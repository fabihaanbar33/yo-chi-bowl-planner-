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71A90F-4EE5-BF9F-9058-F2624F1DD2F3}">
          <p14:sldIdLst>
            <p14:sldId id="256"/>
          </p14:sldIdLst>
        </p14:section>
        <p14:section name="The domain" id="{1AC28495-32E5-0667-0D7B-56052E0CE622}">
          <p14:sldIdLst>
            <p14:sldId id="257"/>
          </p14:sldIdLst>
        </p14:section>
        <p14:section name="ERD" id="{30163F7C-5D29-B997-3777-53EBB00F462B}">
          <p14:sldIdLst>
            <p14:sldId id="258"/>
          </p14:sldIdLst>
        </p14:section>
        <p14:section name="Relationships" id="{B4A41C53-FD72-0CB8-61A1-AE506A195B06}">
          <p14:sldIdLst>
            <p14:sldId id="259"/>
            <p14:sldId id="260"/>
          </p14:sldIdLst>
        </p14:section>
        <p14:section name="Queries" id="{C47A14F7-09BF-3304-F910-E986E2D22628}">
          <p14:sldIdLst>
            <p14:sldId id="261"/>
            <p14:sldId id="262"/>
            <p14:sldId id="263"/>
            <p14:sldId id="264"/>
            <p14:sldId id="265"/>
            <p14:sldId id="266"/>
          </p14:sldIdLst>
        </p14:section>
        <p14:section name="Integrity" id="{F0DA85A8-F918-F779-1645-91C248E6FF35}">
          <p14:sldIdLst>
            <p14:sldId id="267"/>
            <p14:sldId id="268"/>
          </p14:sldIdLst>
        </p14:section>
        <p14:section name="View" id="{AFF8F618-89F4-99B0-C8EF-49508258F6D6}">
          <p14:sldIdLst>
            <p14:sldId id="269"/>
            <p14:sldId id="270"/>
          </p14:sldIdLst>
        </p14:section>
        <p14:section name="Bowl planning" id="{4E266FFB-89A9-6D44-8B84-042B19FB9CDD}">
          <p14:sldIdLst>
            <p14:sldId id="271"/>
            <p14:sldId id="272"/>
            <p14:sldId id="273"/>
          </p14:sldIdLst>
        </p14:section>
        <p14:section name="Close" id="{0BC5DB72-773F-9FE6-9E61-C23C02A247C9}">
          <p14:sldIdLst>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36"/>
    <p:restoredTop sz="94610"/>
  </p:normalViewPr>
  <p:slideViewPr>
    <p:cSldViewPr snapToGrid="0" snapToObjects="1">
      <p:cViewPr varScale="1">
        <p:scale>
          <a:sx n="156" d="100"/>
          <a:sy n="156" d="100"/>
        </p:scale>
        <p:origin x="184" y="216"/>
      </p:cViewPr>
      <p:guideLst/>
    </p:cSldViewPr>
  </p:slideViewPr>
  <p:notesTextViewPr>
    <p:cViewPr>
      <p:scale>
        <a:sx n="1" d="1"/>
        <a:sy n="1" d="1"/>
      </p:scale>
      <p:origin x="0" y="0"/>
    </p:cViewPr>
  </p:notesTextViewPr>
  <p:notesViewPr>
    <p:cSldViewPr snapToGrid="0" snapToObjects="1">
      <p:cViewPr varScale="1">
        <p:scale>
          <a:sx n="89" d="100"/>
          <a:sy n="89" d="100"/>
        </p:scale>
        <p:origin x="492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141042-4B1D-F4C5-4E7A-3011AB8DAFE6}"/>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r>
              <a:rPr lang="en-US"/>
              <a:t>Fabiha Anbar | 25539065</a:t>
            </a:r>
          </a:p>
        </p:txBody>
      </p:sp>
      <p:sp>
        <p:nvSpPr>
          <p:cNvPr id="4" name="Footer Placeholder 3">
            <a:extLst>
              <a:ext uri="{FF2B5EF4-FFF2-40B4-BE49-F238E27FC236}">
                <a16:creationId xmlns:a16="http://schemas.microsoft.com/office/drawing/2014/main" id="{29448D60-D821-6E69-1844-F7E87DC92C17}"/>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4642FA9-8531-F718-6DFB-48AD0E84CF85}"/>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8ECD047E-2A64-514F-B8A1-5925388DFB20}" type="slidenum">
              <a:rPr lang="en-US" smtClean="0"/>
              <a:t>‹#›</a:t>
            </a:fld>
            <a:endParaRPr lang="en-US"/>
          </a:p>
        </p:txBody>
      </p:sp>
    </p:spTree>
    <p:extLst>
      <p:ext uri="{BB962C8B-B14F-4D97-AF65-F5344CB8AC3E}">
        <p14:creationId xmlns:p14="http://schemas.microsoft.com/office/powerpoint/2010/main" val="379188127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821347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Before the slides, run the .txt script in PostgreSQL to show it builds all the tables and data without errors.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Yo-Chi is a self-serve frozen yogurt store in Australia: you fill a cup and pay by weight. Yo-Chi publishes calories and sugar per 100g for each item separately, so nobody tells you the total for the bowl you actually build. This database stores the flavours and toppings, saves customers' bowls with the grams of each item, and works out each bowl's calories, sugar and cost against the customer's calorie limit and budget (per bowl).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a customer saves zero or many bowls; each bowl has one or more flavours and zero or more toppings, stored with the grams used; toppings belong to a category. The two many-to-many relationships are already broken into bridge tables. For page 1 of the submission, paste the original ERD image so it fills an A4 page.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1:M is not part of a many-to-many. Mia's three bowls show the many side; Noah has none, which is what the circle on the Bowl end means. The foreign key has the same name as the primary key it references, which is why NATURAL JOIN works between these tables.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bowl can have many flavours and a flavour can be in many bowls, so the M:M is broken into two 1:M relationships through Bowl_Flavour. Its primary key is both foreign keys together, and it also stores grams. Bowl and Topping work the same way through Bowl_Topping.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query on one table: project three columns, restrict with WHERE, sort with ORDER BY.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JOIN matches the two tables on topping_id, the only column name they share. grams x calories / 100.0 gives the calories added; 100.0 avoids integer division.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 condition Bowl_Topping.topping_id = Topping.topping_id is written by hand. topping_id needs the table name because it is in both tables.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makes one row per category; HAVING filters the groups after averaging, because an aggregate cannot go in WHERE.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sub-query (SELECT AVG(sugar) FROM Topping) runs first and returns one number; the outer query compares every topping against it. It is not correlated.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cannot be a NATURAL JOIN: Topping is joined to itself as t1 and t2, matched on category_id but compared on calories.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variety: a range check, a check comparing two columns, a list of allowed values, and realistic amounts. calories &gt;= sugar x 4 is the most interesting: each gram of sugar gives about 4 kcal, so a food can never have fewer calories than its sugar provides. There are also checks on customer limits, prices, IDs and dates - 19 in total.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 protects data other rows depend on: flavours, toppings and categories in use can't be deleted (real error: violates foreign key constraint bowl_flavourfk_flavour). CASCADE removes data that only makes sense with its parent: deleting Mia removes her 3 bowls and their flavour and topping rows (Bowl 6 -&gt; 3 rows, Bowl_Flavour 9 -&gt; 5). In the script these DELETEs are comments so running it doesn't change the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Flavours and toppings are summed separately in two sub-queries and then added, so a bowl with several flavours and several toppings isn't double counted. LEFT JOIN keeps bowl 106, which has no toppings, and COALESCE turns its missing topping total into 0. CASE compares the totals with the customer's calorie_limit and budget.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view hides all the maths: a simple SELECT now answers 'does this bowl fit my limits?'. Bowls 103, 105 and 106 fit both the calorie limit and the budget.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queries combine every flavour with every topping (a cross product) using portion sizes written into the query. Topping is used twice (t1 and t2), so this is also a self join. With blueberries, only Nutella stays under $20. Costs depend on the illustrative prices.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7 combinations fit, all Ube, Vanilla or Signature Tart with fresh fruit.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Joins Topping to Category to pick only Sweet Treats, then filters on the calculated calories and cost. 11 combinations fit.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7 tables, 19 CHECKs, RESTRICT and CASCADE, a view that does the bowl maths, and queries that answer real questions a Yo-Chi customer has.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WHIT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6035040" cy="1737360"/>
          </a:xfrm>
          <a:prstGeom prst="rect">
            <a:avLst/>
          </a:prstGeom>
          <a:noFill/>
          <a:ln/>
        </p:spPr>
        <p:txBody>
          <a:bodyPr wrap="square" rtlCol="0"/>
          <a:lstStyle>
            <a:lvl1pPr marL="0" indent="0" algn="l">
              <a:buNone/>
              <a:defRPr lang="en-US" sz="5400" b="1" dirty="0">
                <a:solidFill>
                  <a:schemeClr val="tx1"/>
                </a:solidFill>
                <a:latin typeface="Arial" pitchFamily="34" charset="0"/>
                <a:ea typeface="Arial" pitchFamily="34" charset="-122"/>
                <a:cs typeface="Arial" pitchFamily="34" charset="-120"/>
              </a:defRPr>
            </a:lvl1pPr>
          </a:lstStyle>
          <a:p>
            <a:pPr marL="0" indent="0" algn="l">
              <a:buNone/>
            </a:pPr>
            <a:r>
              <a:rPr lang="en-US" sz="5400" b="1" dirty="0">
                <a:solidFill>
                  <a:schemeClr val="tx1"/>
                </a:solidFill>
                <a:latin typeface="Arial" pitchFamily="34" charset="0"/>
                <a:ea typeface="Arial" pitchFamily="34" charset="-122"/>
                <a:cs typeface="Arial" pitchFamily="34" charset="-120"/>
              </a:rPr>
              <a:t>Title</a:t>
            </a:r>
            <a:endParaRPr lang="en-US" sz="5400" dirty="0"/>
          </a:p>
        </p:txBody>
      </p:sp>
      <p:sp>
        <p:nvSpPr>
          <p:cNvPr id="3" name="Text 0"/>
          <p:cNvSpPr>
            <a:spLocks noGrp="1"/>
          </p:cNvSpPr>
          <p:nvPr>
            <p:ph type="body" idx="101" hasCustomPrompt="1"/>
          </p:nvPr>
        </p:nvSpPr>
        <p:spPr>
          <a:xfrm>
            <a:off x="548640" y="3749040"/>
            <a:ext cx="5852160" cy="1737360"/>
          </a:xfrm>
          <a:prstGeom prst="rect">
            <a:avLst/>
          </a:prstGeom>
          <a:noFill/>
          <a:ln/>
        </p:spPr>
        <p:txBody>
          <a:bodyPr wrap="square" rtlCol="0"/>
          <a:lstStyle>
            <a:lvl1pPr marL="0" indent="0" algn="l">
              <a:buNone/>
              <a:defRPr lang="en-US" sz="2000" dirty="0">
                <a:solidFill>
                  <a:schemeClr val="tx1"/>
                </a:solidFill>
                <a:latin typeface="Calibri" pitchFamily="34" charset="0"/>
                <a:ea typeface="Calibri" pitchFamily="34" charset="-122"/>
                <a:cs typeface="Calibri" pitchFamily="34" charset="-120"/>
              </a:defRPr>
            </a:lvl1pPr>
          </a:lstStyle>
          <a:p>
            <a:pPr marL="0" indent="0" algn="l">
              <a:buNone/>
            </a:pPr>
            <a:r>
              <a:rPr lang="en-US" sz="2000" dirty="0">
                <a:solidFill>
                  <a:schemeClr val="tx1"/>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rtlCol="0"/>
          <a:lstStyle>
            <a:lvl1pPr marL="0" indent="0" algn="l">
              <a:buNone/>
              <a:defRPr lang="en-US" sz="2800" b="1" dirty="0">
                <a:solidFill>
                  <a:schemeClr val="tx1"/>
                </a:solidFill>
                <a:latin typeface="Arial" pitchFamily="34" charset="0"/>
                <a:ea typeface="Arial" pitchFamily="34" charset="-122"/>
                <a:cs typeface="Arial" pitchFamily="34" charset="-120"/>
              </a:defRPr>
            </a:lvl1pPr>
          </a:lstStyle>
          <a:p>
            <a:pPr marL="0" indent="0" algn="l">
              <a:buNone/>
            </a:pPr>
            <a:r>
              <a:rPr lang="en-US" sz="2800" b="1" dirty="0">
                <a:solidFill>
                  <a:schemeClr val="tx1"/>
                </a:solidFill>
                <a:latin typeface="Arial" pitchFamily="34" charset="0"/>
                <a:ea typeface="Arial" pitchFamily="34" charset="-122"/>
                <a:cs typeface="Arial" pitchFamily="34" charset="-120"/>
              </a:rPr>
              <a:t>Title</a:t>
            </a:r>
            <a:endParaRPr lang="en-US" sz="28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Fabiha Anbar  |  Yo-Chi Bowl Planner</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yochi.com.au/wp-content/uploads/2026/03/Nutritional-Information.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p:cNvSpPr/>
          <p:nvPr/>
        </p:nvSpPr>
        <p:spPr>
          <a:xfrm>
            <a:off x="548640" y="1188720"/>
            <a:ext cx="4754880" cy="411480"/>
          </a:xfrm>
          <a:prstGeom prst="roundRect">
            <a:avLst>
              <a:gd name="adj" fmla="val 50000"/>
            </a:avLst>
          </a:prstGeom>
          <a:solidFill>
            <a:srgbClr val="FDEBF0"/>
          </a:solidFill>
          <a:ln/>
        </p:spPr>
        <p:txBody>
          <a:bodyPr/>
          <a:lstStyle/>
          <a:p>
            <a:endParaRPr lang="en-US"/>
          </a:p>
        </p:txBody>
      </p:sp>
      <p:sp>
        <p:nvSpPr>
          <p:cNvPr id="4" name="Text 0"/>
          <p:cNvSpPr>
            <a:spLocks noGrp="1"/>
          </p:cNvSpPr>
          <p:nvPr>
            <p:ph type="title" idx="100" hasCustomPrompt="1"/>
          </p:nvPr>
        </p:nvSpPr>
        <p:spPr>
          <a:xfrm>
            <a:off x="548640" y="1828800"/>
            <a:ext cx="6035040" cy="1737360"/>
          </a:xfrm>
          <a:prstGeom prst="rect">
            <a:avLst/>
          </a:prstGeom>
          <a:noFill/>
          <a:ln/>
        </p:spPr>
        <p:txBody>
          <a:bodyPr wrap="square" lIns="0" tIns="0" rIns="0" bIns="0" rtlCol="0" anchor="b"/>
          <a:lstStyle/>
          <a:p>
            <a:pPr marL="0" indent="0" algn="l">
              <a:buNone/>
            </a:pPr>
            <a:r>
              <a:rPr lang="en-US" sz="5400" b="1" dirty="0">
                <a:solidFill>
                  <a:schemeClr val="tx1"/>
                </a:solidFill>
                <a:latin typeface="Arial" pitchFamily="34" charset="0"/>
                <a:ea typeface="Arial" pitchFamily="34" charset="-122"/>
                <a:cs typeface="Arial" pitchFamily="34" charset="-120"/>
              </a:rPr>
              <a:t>Yo-Chi Bowl Planner</a:t>
            </a:r>
            <a:endParaRPr lang="en-US" sz="5400" dirty="0"/>
          </a:p>
        </p:txBody>
      </p:sp>
      <p:sp>
        <p:nvSpPr>
          <p:cNvPr id="5" name="Text 0"/>
          <p:cNvSpPr>
            <a:spLocks noGrp="1"/>
          </p:cNvSpPr>
          <p:nvPr>
            <p:ph type="body" idx="101" hasCustomPrompt="1"/>
          </p:nvPr>
        </p:nvSpPr>
        <p:spPr>
          <a:xfrm>
            <a:off x="548640" y="3749040"/>
            <a:ext cx="5852160" cy="1737360"/>
          </a:xfrm>
          <a:prstGeom prst="rect">
            <a:avLst/>
          </a:prstGeom>
          <a:noFill/>
          <a:ln/>
        </p:spPr>
        <p:txBody>
          <a:bodyPr wrap="square" lIns="0" tIns="0" rIns="0" bIns="0" rtlCol="0" anchor="t"/>
          <a:lstStyle/>
          <a:p>
            <a:pPr marL="0" indent="0" algn="l">
              <a:buNone/>
            </a:pPr>
            <a:r>
              <a:rPr lang="en-US" sz="2000" dirty="0">
                <a:solidFill>
                  <a:schemeClr val="tx1"/>
                </a:solidFill>
                <a:latin typeface="Calibri" pitchFamily="34" charset="0"/>
                <a:ea typeface="Calibri" pitchFamily="34" charset="-122"/>
                <a:cs typeface="Calibri" pitchFamily="34" charset="-120"/>
              </a:rPr>
              <a:t>Know your bowl's calories, sugar and cost before it hits the scale.</a:t>
            </a:r>
            <a:endParaRPr lang="en-US" sz="2000" dirty="0"/>
          </a:p>
          <a:p>
            <a:pPr marL="0" indent="0" algn="l">
              <a:buNone/>
            </a:pPr>
            <a:r>
              <a:rPr lang="en-US" sz="1200" dirty="0">
                <a:solidFill>
                  <a:schemeClr val="tx1"/>
                </a:solidFill>
                <a:latin typeface="Calibri" pitchFamily="34" charset="0"/>
                <a:ea typeface="Calibri" pitchFamily="34" charset="-122"/>
                <a:cs typeface="Calibri" pitchFamily="34" charset="-120"/>
              </a:rPr>
              <a:t> </a:t>
            </a:r>
            <a:endParaRPr lang="en-US" sz="2000" dirty="0"/>
          </a:p>
          <a:p>
            <a:pPr marL="0" indent="0" algn="l">
              <a:buNone/>
            </a:pPr>
            <a:r>
              <a:rPr lang="en-US" sz="2200" b="1" dirty="0">
                <a:solidFill>
                  <a:schemeClr val="tx1"/>
                </a:solidFill>
                <a:latin typeface="Calibri" pitchFamily="34" charset="0"/>
                <a:ea typeface="Calibri" pitchFamily="34" charset="-122"/>
                <a:cs typeface="Calibri" pitchFamily="34" charset="-120"/>
              </a:rPr>
              <a:t>Fabiha Anbar </a:t>
            </a:r>
            <a:endParaRPr lang="en-US" sz="2000" dirty="0"/>
          </a:p>
          <a:p>
            <a:pPr marL="0" indent="0" algn="l">
              <a:buNone/>
            </a:pPr>
            <a:endParaRPr lang="en-US" sz="2000" dirty="0"/>
          </a:p>
        </p:txBody>
      </p:sp>
      <p:sp>
        <p:nvSpPr>
          <p:cNvPr id="6" name="Scoop"/>
          <p:cNvSpPr/>
          <p:nvPr/>
        </p:nvSpPr>
        <p:spPr>
          <a:xfrm>
            <a:off x="7223760" y="502920"/>
            <a:ext cx="4023360" cy="4023360"/>
          </a:xfrm>
          <a:prstGeom prst="ellipse">
            <a:avLst/>
          </a:prstGeom>
          <a:solidFill>
            <a:srgbClr val="F2A7BB"/>
          </a:solidFill>
          <a:ln/>
        </p:spPr>
        <p:txBody>
          <a:bodyPr/>
          <a:lstStyle/>
          <a:p>
            <a:endParaRPr lang="en-US"/>
          </a:p>
        </p:txBody>
      </p:sp>
      <p:sp>
        <p:nvSpPr>
          <p:cNvPr id="7" name="Scoop"/>
          <p:cNvSpPr/>
          <p:nvPr/>
        </p:nvSpPr>
        <p:spPr>
          <a:xfrm>
            <a:off x="10744200" y="320040"/>
            <a:ext cx="914400" cy="914400"/>
          </a:xfrm>
          <a:prstGeom prst="ellipse">
            <a:avLst/>
          </a:prstGeom>
          <a:solidFill>
            <a:srgbClr val="F5D04C"/>
          </a:solidFill>
          <a:ln/>
        </p:spPr>
        <p:txBody>
          <a:bodyPr/>
          <a:lstStyle/>
          <a:p>
            <a:endParaRPr lang="en-US"/>
          </a:p>
        </p:txBody>
      </p:sp>
      <p:sp>
        <p:nvSpPr>
          <p:cNvPr id="8" name="Scoop"/>
          <p:cNvSpPr/>
          <p:nvPr/>
        </p:nvSpPr>
        <p:spPr>
          <a:xfrm>
            <a:off x="11155680" y="5120640"/>
            <a:ext cx="685800" cy="685800"/>
          </a:xfrm>
          <a:prstGeom prst="ellipse">
            <a:avLst/>
          </a:prstGeom>
          <a:solidFill>
            <a:srgbClr val="4E97DE"/>
          </a:solidFill>
          <a:ln/>
        </p:spPr>
        <p:txBody>
          <a:bodyPr/>
          <a:lstStyle/>
          <a:p>
            <a:endParaRPr lang="en-US"/>
          </a:p>
        </p:txBody>
      </p:sp>
      <p:sp>
        <p:nvSpPr>
          <p:cNvPr id="9" name="Scoop"/>
          <p:cNvSpPr/>
          <p:nvPr/>
        </p:nvSpPr>
        <p:spPr>
          <a:xfrm>
            <a:off x="6812280" y="5440680"/>
            <a:ext cx="548640" cy="548640"/>
          </a:xfrm>
          <a:prstGeom prst="ellipse">
            <a:avLst/>
          </a:prstGeom>
          <a:solidFill>
            <a:srgbClr val="A8C97F"/>
          </a:solidFill>
          <a:ln/>
        </p:spPr>
        <p:txBody>
          <a:bodyPr/>
          <a:lstStyle/>
          <a:p>
            <a:endParaRPr lang="en-US"/>
          </a:p>
        </p:txBody>
      </p:sp>
      <p:pic>
        <p:nvPicPr>
          <p:cNvPr id="10" name="Image 0" descr="Yo-Chi mascot plush holding a frozen yogurt cup"/>
          <p:cNvPicPr>
            <a:picLocks noChangeAspect="1"/>
          </p:cNvPicPr>
          <p:nvPr/>
        </p:nvPicPr>
        <p:blipFill>
          <a:blip r:embed="rId3"/>
          <a:stretch>
            <a:fillRect/>
          </a:stretch>
        </p:blipFill>
        <p:spPr>
          <a:xfrm>
            <a:off x="7818120" y="868680"/>
            <a:ext cx="2926080" cy="2926080"/>
          </a:xfrm>
          <a:prstGeom prst="rect">
            <a:avLst/>
          </a:prstGeom>
        </p:spPr>
      </p:pic>
      <p:pic>
        <p:nvPicPr>
          <p:cNvPr id="11" name="Image 1" descr="Two Yo-Chi frozen yogurt bowls with toppings"/>
          <p:cNvPicPr>
            <a:picLocks noChangeAspect="1"/>
          </p:cNvPicPr>
          <p:nvPr/>
        </p:nvPicPr>
        <p:blipFill>
          <a:blip r:embed="rId4"/>
          <a:stretch>
            <a:fillRect/>
          </a:stretch>
        </p:blipFill>
        <p:spPr>
          <a:xfrm>
            <a:off x="7543800" y="3931920"/>
            <a:ext cx="4023360" cy="1951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Why a Yo-Chi bowl needs a database</a:t>
            </a:r>
            <a:endParaRPr lang="en-US" sz="2800" dirty="0"/>
          </a:p>
        </p:txBody>
      </p:sp>
      <p:sp>
        <p:nvSpPr>
          <p:cNvPr id="3" name="Scoop"/>
          <p:cNvSpPr/>
          <p:nvPr/>
        </p:nvSpPr>
        <p:spPr>
          <a:xfrm>
            <a:off x="548640" y="1325880"/>
            <a:ext cx="640080" cy="640080"/>
          </a:xfrm>
          <a:prstGeom prst="ellipse">
            <a:avLst/>
          </a:prstGeom>
          <a:solidFill>
            <a:srgbClr val="F2A7BB"/>
          </a:solidFill>
          <a:ln/>
        </p:spPr>
        <p:txBody>
          <a:bodyPr/>
          <a:lstStyle/>
          <a:p>
            <a:endParaRPr lang="en-US"/>
          </a:p>
        </p:txBody>
      </p:sp>
      <p:sp>
        <p:nvSpPr>
          <p:cNvPr id="4" name="Text 2"/>
          <p:cNvSpPr txBox="1"/>
          <p:nvPr/>
        </p:nvSpPr>
        <p:spPr>
          <a:xfrm>
            <a:off x="548640" y="132588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417320" y="1280160"/>
            <a:ext cx="4663440" cy="100584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Fill your own cup</a:t>
            </a:r>
            <a:endParaRPr lang="en-US" sz="2000" dirty="0"/>
          </a:p>
          <a:p>
            <a:pPr marL="0" indent="0">
              <a:buNone/>
            </a:pPr>
            <a:r>
              <a:rPr lang="en-US" sz="1600" dirty="0">
                <a:solidFill>
                  <a:schemeClr val="accent5"/>
                </a:solidFill>
                <a:latin typeface="Calibri" pitchFamily="34" charset="0"/>
                <a:ea typeface="Calibri" pitchFamily="34" charset="-122"/>
                <a:cs typeface="Calibri" pitchFamily="34" charset="-120"/>
              </a:rPr>
              <a:t>Any flavours and toppings, paid by weight.</a:t>
            </a:r>
            <a:endParaRPr lang="en-US" sz="2000" dirty="0"/>
          </a:p>
        </p:txBody>
      </p:sp>
      <p:sp>
        <p:nvSpPr>
          <p:cNvPr id="6" name="Scoop"/>
          <p:cNvSpPr/>
          <p:nvPr/>
        </p:nvSpPr>
        <p:spPr>
          <a:xfrm>
            <a:off x="548640" y="2743200"/>
            <a:ext cx="640080" cy="640080"/>
          </a:xfrm>
          <a:prstGeom prst="ellipse">
            <a:avLst/>
          </a:prstGeom>
          <a:solidFill>
            <a:srgbClr val="F5D04C"/>
          </a:solidFill>
          <a:ln/>
        </p:spPr>
        <p:txBody>
          <a:bodyPr/>
          <a:lstStyle/>
          <a:p>
            <a:endParaRPr lang="en-US"/>
          </a:p>
        </p:txBody>
      </p:sp>
      <p:sp>
        <p:nvSpPr>
          <p:cNvPr id="7" name="Text 5"/>
          <p:cNvSpPr txBox="1"/>
          <p:nvPr/>
        </p:nvSpPr>
        <p:spPr>
          <a:xfrm>
            <a:off x="548640" y="274320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2</a:t>
            </a:r>
            <a:endParaRPr lang="en-US" sz="2200" dirty="0"/>
          </a:p>
        </p:txBody>
      </p:sp>
      <p:sp>
        <p:nvSpPr>
          <p:cNvPr id="8" name="Text 6"/>
          <p:cNvSpPr txBox="1"/>
          <p:nvPr/>
        </p:nvSpPr>
        <p:spPr>
          <a:xfrm>
            <a:off x="1417320" y="2697480"/>
            <a:ext cx="4663440" cy="100584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Totals are hidden</a:t>
            </a:r>
            <a:endParaRPr lang="en-US" sz="2000" dirty="0"/>
          </a:p>
          <a:p>
            <a:pPr marL="0" indent="0">
              <a:buNone/>
            </a:pPr>
            <a:r>
              <a:rPr lang="en-US" sz="1600" dirty="0">
                <a:solidFill>
                  <a:schemeClr val="accent5"/>
                </a:solidFill>
                <a:latin typeface="Calibri" pitchFamily="34" charset="0"/>
                <a:ea typeface="Calibri" pitchFamily="34" charset="-122"/>
                <a:cs typeface="Calibri" pitchFamily="34" charset="-120"/>
              </a:rPr>
              <a:t>Nutrition is listed per 100g, item by item.</a:t>
            </a:r>
            <a:endParaRPr lang="en-US" sz="2000" dirty="0"/>
          </a:p>
        </p:txBody>
      </p:sp>
      <p:sp>
        <p:nvSpPr>
          <p:cNvPr id="9" name="Scoop"/>
          <p:cNvSpPr/>
          <p:nvPr/>
        </p:nvSpPr>
        <p:spPr>
          <a:xfrm>
            <a:off x="548640" y="4160520"/>
            <a:ext cx="640080" cy="640080"/>
          </a:xfrm>
          <a:prstGeom prst="ellipse">
            <a:avLst/>
          </a:prstGeom>
          <a:solidFill>
            <a:srgbClr val="4E97DE"/>
          </a:solidFill>
          <a:ln/>
        </p:spPr>
        <p:txBody>
          <a:bodyPr/>
          <a:lstStyle/>
          <a:p>
            <a:endParaRPr lang="en-US"/>
          </a:p>
        </p:txBody>
      </p:sp>
      <p:sp>
        <p:nvSpPr>
          <p:cNvPr id="10" name="Text 8"/>
          <p:cNvSpPr txBox="1"/>
          <p:nvPr/>
        </p:nvSpPr>
        <p:spPr>
          <a:xfrm>
            <a:off x="548640" y="416052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3</a:t>
            </a:r>
            <a:endParaRPr lang="en-US" sz="2200" dirty="0"/>
          </a:p>
        </p:txBody>
      </p:sp>
      <p:sp>
        <p:nvSpPr>
          <p:cNvPr id="11" name="Text 9"/>
          <p:cNvSpPr txBox="1"/>
          <p:nvPr/>
        </p:nvSpPr>
        <p:spPr>
          <a:xfrm>
            <a:off x="1417320" y="4114800"/>
            <a:ext cx="4663440" cy="100584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This database adds it up</a:t>
            </a:r>
            <a:endParaRPr lang="en-US" sz="2000" dirty="0"/>
          </a:p>
          <a:p>
            <a:pPr marL="0" indent="0">
              <a:buNone/>
            </a:pPr>
            <a:r>
              <a:rPr lang="en-US" sz="1600" dirty="0">
                <a:solidFill>
                  <a:schemeClr val="accent5"/>
                </a:solidFill>
                <a:latin typeface="Calibri" pitchFamily="34" charset="0"/>
                <a:ea typeface="Calibri" pitchFamily="34" charset="-122"/>
                <a:cs typeface="Calibri" pitchFamily="34" charset="-120"/>
              </a:rPr>
              <a:t>Every bowl's calories, sugar and cost, against your own limits.</a:t>
            </a:r>
            <a:endParaRPr lang="en-US" sz="2000" dirty="0"/>
          </a:p>
        </p:txBody>
      </p:sp>
      <p:pic>
        <p:nvPicPr>
          <p:cNvPr id="12" name="Image 0" descr="Yo-Chi frozen yogurt cups surrounded by toppings"/>
          <p:cNvPicPr>
            <a:picLocks noChangeAspect="1"/>
          </p:cNvPicPr>
          <p:nvPr/>
        </p:nvPicPr>
        <p:blipFill>
          <a:blip r:embed="rId3"/>
          <a:stretch>
            <a:fillRect/>
          </a:stretch>
        </p:blipFill>
        <p:spPr>
          <a:xfrm>
            <a:off x="6263640" y="1188720"/>
            <a:ext cx="5376672" cy="2580056"/>
          </a:xfrm>
          <a:prstGeom prst="rect">
            <a:avLst/>
          </a:prstGeom>
        </p:spPr>
      </p:pic>
      <p:sp>
        <p:nvSpPr>
          <p:cNvPr id="13" name="Pill"/>
          <p:cNvSpPr/>
          <p:nvPr/>
        </p:nvSpPr>
        <p:spPr>
          <a:xfrm>
            <a:off x="6263640" y="3931920"/>
            <a:ext cx="1691640" cy="548640"/>
          </a:xfrm>
          <a:prstGeom prst="roundRect">
            <a:avLst>
              <a:gd name="adj" fmla="val 50000"/>
            </a:avLst>
          </a:prstGeom>
          <a:solidFill>
            <a:srgbClr val="FDEBF0"/>
          </a:solidFill>
          <a:ln/>
        </p:spPr>
        <p:txBody>
          <a:bodyPr/>
          <a:lstStyle/>
          <a:p>
            <a:endParaRPr lang="en-US"/>
          </a:p>
        </p:txBody>
      </p:sp>
      <p:sp>
        <p:nvSpPr>
          <p:cNvPr id="14" name="Pill text"/>
          <p:cNvSpPr txBox="1"/>
          <p:nvPr/>
        </p:nvSpPr>
        <p:spPr>
          <a:xfrm>
            <a:off x="6263640" y="3931920"/>
            <a:ext cx="1691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8 flavours</a:t>
            </a:r>
            <a:endParaRPr lang="en-US" sz="1800" dirty="0"/>
          </a:p>
        </p:txBody>
      </p:sp>
      <p:sp>
        <p:nvSpPr>
          <p:cNvPr id="15" name="Pill"/>
          <p:cNvSpPr/>
          <p:nvPr/>
        </p:nvSpPr>
        <p:spPr>
          <a:xfrm>
            <a:off x="8092440" y="3931920"/>
            <a:ext cx="1691640" cy="548640"/>
          </a:xfrm>
          <a:prstGeom prst="roundRect">
            <a:avLst>
              <a:gd name="adj" fmla="val 50000"/>
            </a:avLst>
          </a:prstGeom>
          <a:solidFill>
            <a:srgbClr val="FFF6D8"/>
          </a:solidFill>
          <a:ln/>
        </p:spPr>
        <p:txBody>
          <a:bodyPr/>
          <a:lstStyle/>
          <a:p>
            <a:endParaRPr lang="en-US"/>
          </a:p>
        </p:txBody>
      </p:sp>
      <p:sp>
        <p:nvSpPr>
          <p:cNvPr id="16" name="Pill text"/>
          <p:cNvSpPr txBox="1"/>
          <p:nvPr/>
        </p:nvSpPr>
        <p:spPr>
          <a:xfrm>
            <a:off x="8092440" y="3931920"/>
            <a:ext cx="1691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11 toppings</a:t>
            </a:r>
            <a:endParaRPr lang="en-US" sz="1800" dirty="0"/>
          </a:p>
        </p:txBody>
      </p:sp>
      <p:sp>
        <p:nvSpPr>
          <p:cNvPr id="17" name="Pill"/>
          <p:cNvSpPr/>
          <p:nvPr/>
        </p:nvSpPr>
        <p:spPr>
          <a:xfrm>
            <a:off x="9921240" y="3931920"/>
            <a:ext cx="1719072" cy="548640"/>
          </a:xfrm>
          <a:prstGeom prst="roundRect">
            <a:avLst>
              <a:gd name="adj" fmla="val 50000"/>
            </a:avLst>
          </a:prstGeom>
          <a:solidFill>
            <a:srgbClr val="E5F0FB"/>
          </a:solidFill>
          <a:ln/>
        </p:spPr>
        <p:txBody>
          <a:bodyPr/>
          <a:lstStyle/>
          <a:p>
            <a:endParaRPr lang="en-US"/>
          </a:p>
        </p:txBody>
      </p:sp>
      <p:sp>
        <p:nvSpPr>
          <p:cNvPr id="18" name="Pill text"/>
          <p:cNvSpPr txBox="1"/>
          <p:nvPr/>
        </p:nvSpPr>
        <p:spPr>
          <a:xfrm>
            <a:off x="9921240" y="3931920"/>
            <a:ext cx="1719072"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6 saved bowls</a:t>
            </a:r>
            <a:endParaRPr lang="en-US" sz="1800" dirty="0"/>
          </a:p>
        </p:txBody>
      </p:sp>
      <p:sp>
        <p:nvSpPr>
          <p:cNvPr id="19" name="Text 16">
            <a:hlinkClick r:id="rId4"/>
          </p:cNvPr>
          <p:cNvSpPr txBox="1"/>
          <p:nvPr/>
        </p:nvSpPr>
        <p:spPr>
          <a:xfrm>
            <a:off x="6263640" y="4709160"/>
            <a:ext cx="5394960" cy="274320"/>
          </a:xfrm>
          <a:prstGeom prst="rect">
            <a:avLst/>
          </a:prstGeom>
          <a:noFill/>
          <a:ln/>
        </p:spPr>
        <p:txBody>
          <a:bodyPr wrap="square" lIns="0" tIns="0" rIns="0" bIns="0" rtlCol="0" anchor="ctr"/>
          <a:lstStyle/>
          <a:p>
            <a:pPr marL="0" indent="0">
              <a:buNone/>
            </a:pPr>
            <a:r>
              <a:rPr lang="en-US" sz="1100" i="1" dirty="0">
                <a:solidFill>
                  <a:schemeClr val="accent5"/>
                </a:solidFill>
                <a:latin typeface="Calibri" pitchFamily="34" charset="0"/>
                <a:ea typeface="Calibri" pitchFamily="34" charset="-122"/>
                <a:cs typeface="Calibri" pitchFamily="34" charset="-120"/>
              </a:rPr>
              <a:t>Nutrition: </a:t>
            </a:r>
            <a:r>
              <a:rPr lang="en-US" sz="1100" i="1" dirty="0">
                <a:solidFill>
                  <a:schemeClr val="accent5"/>
                </a:solidFill>
                <a:latin typeface="Calibri" pitchFamily="34" charset="0"/>
                <a:ea typeface="Calibri" pitchFamily="34" charset="-122"/>
                <a:cs typeface="Calibri" pitchFamily="34" charset="-120"/>
                <a:hlinkClick r:id="rId4"/>
              </a:rPr>
              <a:t>yochi.com.au </a:t>
            </a:r>
            <a:r>
              <a:rPr lang="en-US" sz="1100" i="1" dirty="0">
                <a:solidFill>
                  <a:schemeClr val="accent5"/>
                </a:solidFill>
                <a:latin typeface="Calibri" pitchFamily="34" charset="0"/>
                <a:ea typeface="Calibri" pitchFamily="34" charset="-122"/>
                <a:cs typeface="Calibri" pitchFamily="34" charset="-120"/>
              </a:rPr>
              <a:t>(kJ converted to kcal). Prices are illustrative.</a:t>
            </a:r>
          </a:p>
          <a:p>
            <a:pPr marL="0" indent="0">
              <a:buNone/>
            </a:pPr>
            <a:r>
              <a:rPr lang="en-US" sz="1100" i="1" dirty="0">
                <a:solidFill>
                  <a:schemeClr val="accent5"/>
                </a:solidFill>
                <a:latin typeface="Calibri" pitchFamily="34" charset="0"/>
                <a:ea typeface="Calibri" pitchFamily="34" charset="-122"/>
                <a:cs typeface="Calibri" pitchFamily="34" charset="-120"/>
              </a:rPr>
              <a:t>Website : https://yochi.com.au/wp-content/uploads/2026/03/Nutritional-Information.pdf</a:t>
            </a: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Entity Relationship Diagram</a:t>
            </a:r>
            <a:endParaRPr lang="en-US" sz="2800" dirty="0"/>
          </a:p>
        </p:txBody>
      </p:sp>
      <p:pic>
        <p:nvPicPr>
          <p:cNvPr id="3" name="Image 0" descr="ERD: Customer, Bowl, Bowl_Flavour, Flavour, Bowl_Topping, Topping, Category"/>
          <p:cNvPicPr>
            <a:picLocks noChangeAspect="1"/>
          </p:cNvPicPr>
          <p:nvPr/>
        </p:nvPicPr>
        <p:blipFill>
          <a:blip r:embed="rId3"/>
          <a:stretch>
            <a:fillRect/>
          </a:stretch>
        </p:blipFill>
        <p:spPr>
          <a:xfrm>
            <a:off x="7646126" y="161895"/>
            <a:ext cx="3357154" cy="6639319"/>
          </a:xfrm>
          <a:prstGeom prst="rect">
            <a:avLst/>
          </a:prstGeom>
        </p:spPr>
      </p:pic>
      <p:sp>
        <p:nvSpPr>
          <p:cNvPr id="4" name="Scoop"/>
          <p:cNvSpPr/>
          <p:nvPr/>
        </p:nvSpPr>
        <p:spPr>
          <a:xfrm>
            <a:off x="548640" y="1325880"/>
            <a:ext cx="411480" cy="411480"/>
          </a:xfrm>
          <a:prstGeom prst="ellipse">
            <a:avLst/>
          </a:prstGeom>
          <a:solidFill>
            <a:srgbClr val="F2A7BB"/>
          </a:solidFill>
          <a:ln/>
        </p:spPr>
        <p:txBody>
          <a:bodyPr/>
          <a:lstStyle/>
          <a:p>
            <a:endParaRPr lang="en-US"/>
          </a:p>
        </p:txBody>
      </p:sp>
      <p:sp>
        <p:nvSpPr>
          <p:cNvPr id="5" name="Text 2"/>
          <p:cNvSpPr txBox="1"/>
          <p:nvPr/>
        </p:nvSpPr>
        <p:spPr>
          <a:xfrm>
            <a:off x="1188720" y="1280160"/>
            <a:ext cx="731520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7 entities</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Customer, Bowl, Flavour, Topping, Category + 2 bridge tables</a:t>
            </a:r>
            <a:endParaRPr lang="en-US" sz="1900" dirty="0"/>
          </a:p>
        </p:txBody>
      </p:sp>
      <p:sp>
        <p:nvSpPr>
          <p:cNvPr id="6" name="Scoop"/>
          <p:cNvSpPr/>
          <p:nvPr/>
        </p:nvSpPr>
        <p:spPr>
          <a:xfrm>
            <a:off x="548640" y="2514600"/>
            <a:ext cx="411480" cy="411480"/>
          </a:xfrm>
          <a:prstGeom prst="ellipse">
            <a:avLst/>
          </a:prstGeom>
          <a:solidFill>
            <a:srgbClr val="F5D04C"/>
          </a:solidFill>
          <a:ln/>
        </p:spPr>
        <p:txBody>
          <a:bodyPr/>
          <a:lstStyle/>
          <a:p>
            <a:endParaRPr lang="en-US"/>
          </a:p>
        </p:txBody>
      </p:sp>
      <p:sp>
        <p:nvSpPr>
          <p:cNvPr id="7" name="Text 4"/>
          <p:cNvSpPr txBox="1"/>
          <p:nvPr/>
        </p:nvSpPr>
        <p:spPr>
          <a:xfrm>
            <a:off x="1188720" y="2468880"/>
            <a:ext cx="731520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2 one-to-many</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Customer saves Bowls  |  Category groups Toppings</a:t>
            </a:r>
            <a:endParaRPr lang="en-US" sz="1900" dirty="0"/>
          </a:p>
        </p:txBody>
      </p:sp>
      <p:sp>
        <p:nvSpPr>
          <p:cNvPr id="8" name="Scoop"/>
          <p:cNvSpPr/>
          <p:nvPr/>
        </p:nvSpPr>
        <p:spPr>
          <a:xfrm>
            <a:off x="548640" y="3703320"/>
            <a:ext cx="411480" cy="411480"/>
          </a:xfrm>
          <a:prstGeom prst="ellipse">
            <a:avLst/>
          </a:prstGeom>
          <a:solidFill>
            <a:srgbClr val="4E97DE"/>
          </a:solidFill>
          <a:ln/>
        </p:spPr>
        <p:txBody>
          <a:bodyPr/>
          <a:lstStyle/>
          <a:p>
            <a:endParaRPr lang="en-US"/>
          </a:p>
        </p:txBody>
      </p:sp>
      <p:sp>
        <p:nvSpPr>
          <p:cNvPr id="9" name="Text 6"/>
          <p:cNvSpPr txBox="1"/>
          <p:nvPr/>
        </p:nvSpPr>
        <p:spPr>
          <a:xfrm>
            <a:off x="1188720" y="3657600"/>
            <a:ext cx="731520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2 many-to-many</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Bowl and Flavour  |  Bowl and Topping, each via a bridge table</a:t>
            </a:r>
            <a:endParaRPr lang="en-US" sz="1900" dirty="0"/>
          </a:p>
        </p:txBody>
      </p:sp>
      <p:sp>
        <p:nvSpPr>
          <p:cNvPr id="10" name="Scoop"/>
          <p:cNvSpPr/>
          <p:nvPr/>
        </p:nvSpPr>
        <p:spPr>
          <a:xfrm>
            <a:off x="548640" y="4892040"/>
            <a:ext cx="411480" cy="411480"/>
          </a:xfrm>
          <a:prstGeom prst="ellipse">
            <a:avLst/>
          </a:prstGeom>
          <a:solidFill>
            <a:srgbClr val="A8C97F"/>
          </a:solidFill>
          <a:ln/>
        </p:spPr>
        <p:txBody>
          <a:bodyPr/>
          <a:lstStyle/>
          <a:p>
            <a:endParaRPr lang="en-US"/>
          </a:p>
        </p:txBody>
      </p:sp>
      <p:sp>
        <p:nvSpPr>
          <p:cNvPr id="11" name="Text 8"/>
          <p:cNvSpPr txBox="1"/>
          <p:nvPr/>
        </p:nvSpPr>
        <p:spPr>
          <a:xfrm>
            <a:off x="1188720" y="4846320"/>
            <a:ext cx="731520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Crow's foot notation</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Keys underlined  |  values are per 100g</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One-to-many: a customer saves bowls</a:t>
            </a:r>
            <a:endParaRPr lang="en-US" sz="2800" dirty="0"/>
          </a:p>
        </p:txBody>
      </p:sp>
      <p:sp>
        <p:nvSpPr>
          <p:cNvPr id="3" name="Pill"/>
          <p:cNvSpPr/>
          <p:nvPr/>
        </p:nvSpPr>
        <p:spPr>
          <a:xfrm>
            <a:off x="9128455" y="411480"/>
            <a:ext cx="2514600" cy="438912"/>
          </a:xfrm>
          <a:prstGeom prst="roundRect">
            <a:avLst>
              <a:gd name="adj" fmla="val 50000"/>
            </a:avLst>
          </a:prstGeom>
          <a:solidFill>
            <a:srgbClr val="F5D04C"/>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1 : M</a:t>
            </a:r>
            <a:endParaRPr lang="en-US" sz="1300" dirty="0"/>
          </a:p>
        </p:txBody>
      </p:sp>
      <p:pic>
        <p:nvPicPr>
          <p:cNvPr id="5" name="Image 0" descr="ERD fragment: Customer saves zero or many Bowls"/>
          <p:cNvPicPr>
            <a:picLocks noChangeAspect="1"/>
          </p:cNvPicPr>
          <p:nvPr/>
        </p:nvPicPr>
        <p:blipFill>
          <a:blip r:embed="rId3"/>
          <a:stretch>
            <a:fillRect/>
          </a:stretch>
        </p:blipFill>
        <p:spPr>
          <a:xfrm>
            <a:off x="558484" y="1188720"/>
            <a:ext cx="3312476" cy="4480560"/>
          </a:xfrm>
          <a:prstGeom prst="rect">
            <a:avLst/>
          </a:prstGeom>
        </p:spPr>
      </p:pic>
      <p:sp>
        <p:nvSpPr>
          <p:cNvPr id="6" name="Text 3"/>
          <p:cNvSpPr txBox="1"/>
          <p:nvPr/>
        </p:nvSpPr>
        <p:spPr>
          <a:xfrm>
            <a:off x="4409756" y="1188720"/>
            <a:ext cx="3657600" cy="27432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Customer</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09756" y="1508760"/>
          <a:ext cx="4206240" cy="1554480"/>
        </p:xfrm>
        <a:graphic>
          <a:graphicData uri="http://schemas.openxmlformats.org/drawingml/2006/table">
            <a:tbl>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10896">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customer_id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calorie_limit</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budget</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Mia Chen</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450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12.00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Liam Patel</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650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16.00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Zara Ahmed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350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Noah Kim</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14.00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8890316" y="1188720"/>
            <a:ext cx="2743200" cy="27432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Bowl</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8890316" y="1508760"/>
          <a:ext cx="3108960" cy="2176272"/>
        </p:xfrm>
        <a:graphic>
          <a:graphicData uri="http://schemas.openxmlformats.org/drawingml/2006/table">
            <a:tbl>
              <a:tblPr/>
              <a:tblGrid>
                <a:gridCol w="868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10896">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bowl_id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bowl_date</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customer_id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2026-09-05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2026-09-19</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2"/>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103</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2026-10-03</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3"/>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2026-09-12</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2026-10-01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2026-09-27</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Shape 5"/>
          <p:cNvSpPr/>
          <p:nvPr/>
        </p:nvSpPr>
        <p:spPr>
          <a:xfrm>
            <a:off x="4409756" y="4206240"/>
            <a:ext cx="5120640" cy="475488"/>
          </a:xfrm>
          <a:prstGeom prst="roundRect">
            <a:avLst>
              <a:gd name="adj" fmla="val 50000"/>
            </a:avLst>
          </a:prstGeom>
          <a:solidFill>
            <a:srgbClr val="F5D04C"/>
          </a:solidFill>
          <a:ln/>
        </p:spPr>
        <p:txBody>
          <a:bodyPr/>
          <a:lstStyle/>
          <a:p>
            <a:endParaRPr lang="en-US"/>
          </a:p>
        </p:txBody>
      </p:sp>
      <p:sp>
        <p:nvSpPr>
          <p:cNvPr id="11" name="Text 6"/>
          <p:cNvSpPr txBox="1"/>
          <p:nvPr/>
        </p:nvSpPr>
        <p:spPr>
          <a:xfrm>
            <a:off x="4592636" y="4206240"/>
            <a:ext cx="4754880" cy="475488"/>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Foreign key: customer_id in Bowl</a:t>
            </a:r>
            <a:endParaRPr lang="en-US" sz="1500" dirty="0"/>
          </a:p>
        </p:txBody>
      </p:sp>
      <p:sp>
        <p:nvSpPr>
          <p:cNvPr id="12" name="Shape 7"/>
          <p:cNvSpPr/>
          <p:nvPr/>
        </p:nvSpPr>
        <p:spPr>
          <a:xfrm>
            <a:off x="4409756" y="4846320"/>
            <a:ext cx="5120640" cy="475488"/>
          </a:xfrm>
          <a:prstGeom prst="roundRect">
            <a:avLst>
              <a:gd name="adj" fmla="val 50000"/>
            </a:avLst>
          </a:prstGeom>
          <a:solidFill>
            <a:srgbClr val="FFF6D8"/>
          </a:solidFill>
          <a:ln/>
        </p:spPr>
        <p:txBody>
          <a:bodyPr/>
          <a:lstStyle/>
          <a:p>
            <a:endParaRPr lang="en-US"/>
          </a:p>
        </p:txBody>
      </p:sp>
      <p:sp>
        <p:nvSpPr>
          <p:cNvPr id="13" name="Text 8"/>
          <p:cNvSpPr txBox="1"/>
          <p:nvPr/>
        </p:nvSpPr>
        <p:spPr>
          <a:xfrm>
            <a:off x="4592636" y="4846320"/>
            <a:ext cx="4754880" cy="475488"/>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Mia: 3 bowls  |  Noah: 0 bowls (optional)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Many-to-many: bowls and flavours</a:t>
            </a:r>
            <a:endParaRPr lang="en-US" sz="2800" dirty="0"/>
          </a:p>
        </p:txBody>
      </p:sp>
      <p:sp>
        <p:nvSpPr>
          <p:cNvPr id="3" name="Pill"/>
          <p:cNvSpPr/>
          <p:nvPr/>
        </p:nvSpPr>
        <p:spPr>
          <a:xfrm>
            <a:off x="9128455" y="411480"/>
            <a:ext cx="2514600" cy="438912"/>
          </a:xfrm>
          <a:prstGeom prst="roundRect">
            <a:avLst>
              <a:gd name="adj" fmla="val 50000"/>
            </a:avLst>
          </a:prstGeom>
          <a:solidFill>
            <a:srgbClr val="F5D04C"/>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M : M</a:t>
            </a:r>
            <a:endParaRPr lang="en-US" sz="1300" dirty="0"/>
          </a:p>
        </p:txBody>
      </p:sp>
      <p:pic>
        <p:nvPicPr>
          <p:cNvPr id="5" name="Image 0" descr="ERD fragment: Bowl, Bowl_Flavour, Flavour"/>
          <p:cNvPicPr>
            <a:picLocks noChangeAspect="1"/>
          </p:cNvPicPr>
          <p:nvPr/>
        </p:nvPicPr>
        <p:blipFill>
          <a:blip r:embed="rId3"/>
          <a:stretch>
            <a:fillRect/>
          </a:stretch>
        </p:blipFill>
        <p:spPr>
          <a:xfrm>
            <a:off x="640080" y="1051560"/>
            <a:ext cx="2980612" cy="5257800"/>
          </a:xfrm>
          <a:prstGeom prst="rect">
            <a:avLst/>
          </a:prstGeom>
        </p:spPr>
      </p:pic>
      <p:sp>
        <p:nvSpPr>
          <p:cNvPr id="6" name="Text 3"/>
          <p:cNvSpPr txBox="1"/>
          <p:nvPr/>
        </p:nvSpPr>
        <p:spPr>
          <a:xfrm>
            <a:off x="4077892" y="1188720"/>
            <a:ext cx="1828800" cy="27432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Bowl</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77892" y="1508760"/>
          <a:ext cx="2103120" cy="932688"/>
        </p:xfrm>
        <a:graphic>
          <a:graphicData uri="http://schemas.openxmlformats.org/drawingml/2006/table">
            <a:tbl>
              <a:tblPr/>
              <a:tblGrid>
                <a:gridCol w="8686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tblGrid>
              <a:tr h="310896">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bowl_id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bowl_date</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2026-09-05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2026-09-27</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6409612" y="1188720"/>
            <a:ext cx="2743200" cy="27432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Bowl_Flavour (bridge)</a:t>
            </a:r>
            <a:endParaRPr lang="en-US" sz="13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09612" y="1508760"/>
          <a:ext cx="2743200" cy="1243584"/>
        </p:xfrm>
        <a:graphic>
          <a:graphicData uri="http://schemas.openxmlformats.org/drawingml/2006/table">
            <a:tbl>
              <a:tblPr/>
              <a:tblGrid>
                <a:gridCol w="8686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bowl_id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flavour_id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grams</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2"/>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220</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6D8"/>
                    </a:solidFill>
                  </a:tcPr>
                </a:tc>
                <a:extLst>
                  <a:ext uri="{0D108BD9-81ED-4DB2-BD59-A6C34878D82A}">
                    <a16:rowId xmlns:a16="http://schemas.microsoft.com/office/drawing/2014/main" val="10003"/>
                  </a:ext>
                </a:extLst>
              </a:tr>
            </a:tbl>
          </a:graphicData>
        </a:graphic>
      </p:graphicFrame>
      <p:sp>
        <p:nvSpPr>
          <p:cNvPr id="10" name="Text 5"/>
          <p:cNvSpPr txBox="1"/>
          <p:nvPr/>
        </p:nvSpPr>
        <p:spPr>
          <a:xfrm>
            <a:off x="9381412" y="1188720"/>
            <a:ext cx="1828800" cy="27432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Flavour</a:t>
            </a:r>
            <a:endParaRPr lang="en-US" sz="130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9381412" y="1508760"/>
          <a:ext cx="2514600" cy="932688"/>
        </p:xfrm>
        <a:graphic>
          <a:graphicData uri="http://schemas.openxmlformats.org/drawingml/2006/table">
            <a:tbl>
              <a:tblPr/>
              <a:tblGrid>
                <a:gridCol w="960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10896">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flavour_id</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Vanilla</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Signature Tart</a:t>
                      </a:r>
                      <a:endParaRPr lang="en-US" sz="1300" dirty="0">
                        <a:latin typeface="Calibri" charset="0"/>
                        <a:ea typeface="Calibri" charset="0"/>
                        <a:cs typeface="Calibri" charset="0"/>
                      </a:endParaRPr>
                    </a:p>
                  </a:txBody>
                  <a:tcPr marL="73152" marR="73152" marT="0" marB="0"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9525" cap="flat" cmpd="sng" algn="ctr">
                      <a:solidFill>
                        <a:srgbClr val="E3E3E3"/>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Shape 6"/>
          <p:cNvSpPr/>
          <p:nvPr/>
        </p:nvSpPr>
        <p:spPr>
          <a:xfrm>
            <a:off x="4077892" y="3291840"/>
            <a:ext cx="3749040" cy="475488"/>
          </a:xfrm>
          <a:prstGeom prst="roundRect">
            <a:avLst>
              <a:gd name="adj" fmla="val 50000"/>
            </a:avLst>
          </a:prstGeom>
          <a:solidFill>
            <a:srgbClr val="FFF6D8"/>
          </a:solidFill>
          <a:ln/>
        </p:spPr>
        <p:txBody>
          <a:bodyPr/>
          <a:lstStyle/>
          <a:p>
            <a:endParaRPr lang="en-US"/>
          </a:p>
        </p:txBody>
      </p:sp>
      <p:sp>
        <p:nvSpPr>
          <p:cNvPr id="13" name="Text 7"/>
          <p:cNvSpPr txBox="1"/>
          <p:nvPr/>
        </p:nvSpPr>
        <p:spPr>
          <a:xfrm>
            <a:off x="4260772" y="3291840"/>
            <a:ext cx="3383280" cy="475488"/>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Bowl 101 has 2 flavours</a:t>
            </a:r>
            <a:endParaRPr lang="en-US" sz="1500" dirty="0"/>
          </a:p>
        </p:txBody>
      </p:sp>
      <p:sp>
        <p:nvSpPr>
          <p:cNvPr id="14" name="Shape 8"/>
          <p:cNvSpPr/>
          <p:nvPr/>
        </p:nvSpPr>
        <p:spPr>
          <a:xfrm>
            <a:off x="8055532" y="3291840"/>
            <a:ext cx="3794760" cy="475488"/>
          </a:xfrm>
          <a:prstGeom prst="roundRect">
            <a:avLst>
              <a:gd name="adj" fmla="val 50000"/>
            </a:avLst>
          </a:prstGeom>
          <a:solidFill>
            <a:srgbClr val="FFF6D8"/>
          </a:solidFill>
          <a:ln/>
        </p:spPr>
        <p:txBody>
          <a:bodyPr/>
          <a:lstStyle/>
          <a:p>
            <a:endParaRPr lang="en-US"/>
          </a:p>
        </p:txBody>
      </p:sp>
      <p:sp>
        <p:nvSpPr>
          <p:cNvPr id="15" name="Text 9"/>
          <p:cNvSpPr txBox="1"/>
          <p:nvPr/>
        </p:nvSpPr>
        <p:spPr>
          <a:xfrm>
            <a:off x="8238412" y="3291840"/>
            <a:ext cx="3429000" cy="475488"/>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Signature Tart is in 2 bowls</a:t>
            </a:r>
            <a:endParaRPr lang="en-US" sz="1500" dirty="0"/>
          </a:p>
        </p:txBody>
      </p:sp>
      <p:sp>
        <p:nvSpPr>
          <p:cNvPr id="9" name="Shape 10"/>
          <p:cNvSpPr/>
          <p:nvPr/>
        </p:nvSpPr>
        <p:spPr>
          <a:xfrm>
            <a:off x="4077892" y="3931920"/>
            <a:ext cx="7772400" cy="475488"/>
          </a:xfrm>
          <a:prstGeom prst="roundRect">
            <a:avLst>
              <a:gd name="adj" fmla="val 50000"/>
            </a:avLst>
          </a:prstGeom>
          <a:solidFill>
            <a:srgbClr val="F5D04C"/>
          </a:solidFill>
          <a:ln/>
        </p:spPr>
        <p:txBody>
          <a:bodyPr/>
          <a:lstStyle/>
          <a:p>
            <a:endParaRPr lang="en-US"/>
          </a:p>
        </p:txBody>
      </p:sp>
      <p:sp>
        <p:nvSpPr>
          <p:cNvPr id="17" name="Text 11"/>
          <p:cNvSpPr txBox="1"/>
          <p:nvPr/>
        </p:nvSpPr>
        <p:spPr>
          <a:xfrm>
            <a:off x="4260772" y="3931920"/>
            <a:ext cx="7406640" cy="475488"/>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Bridge table key: (bowl_id, flavour_id)</a:t>
            </a:r>
            <a:endParaRPr lang="en-US" sz="1500" dirty="0"/>
          </a:p>
        </p:txBody>
      </p:sp>
      <p:pic>
        <p:nvPicPr>
          <p:cNvPr id="18" name="Image 1" descr="Two Yo-Chi bowls, each with several flavours"/>
          <p:cNvPicPr>
            <a:picLocks noChangeAspect="1"/>
          </p:cNvPicPr>
          <p:nvPr/>
        </p:nvPicPr>
        <p:blipFill>
          <a:blip r:embed="rId4"/>
          <a:stretch>
            <a:fillRect/>
          </a:stretch>
        </p:blipFill>
        <p:spPr>
          <a:xfrm>
            <a:off x="8055532" y="4617720"/>
            <a:ext cx="3794760" cy="1691640"/>
          </a:xfrm>
          <a:prstGeom prst="rect">
            <a:avLst/>
          </a:prstGeom>
        </p:spPr>
      </p:pic>
      <p:sp>
        <p:nvSpPr>
          <p:cNvPr id="19" name="Text 12"/>
          <p:cNvSpPr txBox="1"/>
          <p:nvPr/>
        </p:nvSpPr>
        <p:spPr>
          <a:xfrm>
            <a:off x="4077892" y="4754880"/>
            <a:ext cx="3657600" cy="1097280"/>
          </a:xfrm>
          <a:prstGeom prst="rect">
            <a:avLst/>
          </a:prstGeom>
          <a:noFill/>
          <a:ln/>
        </p:spPr>
        <p:txBody>
          <a:bodyPr wrap="square" lIns="0" tIns="0" rIns="0" bIns="0" rtlCol="0" anchor="t"/>
          <a:lstStyle/>
          <a:p>
            <a:pPr marL="0" indent="0">
              <a:buNone/>
            </a:pPr>
            <a:r>
              <a:rPr lang="en-US" sz="1700" i="1" dirty="0">
                <a:solidFill>
                  <a:schemeClr val="accent5"/>
                </a:solidFill>
                <a:latin typeface="Calibri" pitchFamily="34" charset="0"/>
                <a:ea typeface="Calibri" pitchFamily="34" charset="-122"/>
                <a:cs typeface="Calibri" pitchFamily="34" charset="-120"/>
              </a:rPr>
              <a:t>One bowl, many flavours.</a:t>
            </a:r>
            <a:endParaRPr lang="en-US" sz="1700" dirty="0"/>
          </a:p>
          <a:p>
            <a:pPr marL="0" indent="0">
              <a:buNone/>
            </a:pPr>
            <a:r>
              <a:rPr lang="en-US" sz="1700" i="1" dirty="0">
                <a:solidFill>
                  <a:schemeClr val="accent5"/>
                </a:solidFill>
                <a:latin typeface="Calibri" pitchFamily="34" charset="0"/>
                <a:ea typeface="Calibri" pitchFamily="34" charset="-122"/>
                <a:cs typeface="Calibri" pitchFamily="34" charset="-120"/>
              </a:rPr>
              <a:t>One flavour, many bowls.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1: Lightest flavours</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6a  Single table</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Which flavours have fewer than 125 kcal per 100g?</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113536"/>
          </a:xfrm>
          <a:prstGeom prst="roundRect">
            <a:avLst>
              <a:gd name="adj" fmla="val 11496"/>
            </a:avLst>
          </a:prstGeom>
          <a:solidFill>
            <a:schemeClr val="tx1"/>
          </a:solidFill>
          <a:ln/>
        </p:spPr>
        <p:txBody>
          <a:bodyPr/>
          <a:lstStyle/>
          <a:p>
            <a:endParaRPr lang="en-US"/>
          </a:p>
        </p:txBody>
      </p:sp>
      <p:sp>
        <p:nvSpPr>
          <p:cNvPr id="8" name="SQL"/>
          <p:cNvSpPr txBox="1"/>
          <p:nvPr/>
        </p:nvSpPr>
        <p:spPr>
          <a:xfrm>
            <a:off x="731520" y="1865376"/>
            <a:ext cx="10728655" cy="967232"/>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name, calories, sugar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Flavour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WHERE calories &lt; 125</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calories;</a:t>
            </a:r>
            <a:endParaRPr lang="en-US" sz="1400" dirty="0"/>
          </a:p>
        </p:txBody>
      </p:sp>
      <p:sp>
        <p:nvSpPr>
          <p:cNvPr id="9" name="Text 7"/>
          <p:cNvSpPr txBox="1"/>
          <p:nvPr/>
        </p:nvSpPr>
        <p:spPr>
          <a:xfrm>
            <a:off x="548640" y="3042920"/>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298952"/>
            <a:ext cx="7589520" cy="1533144"/>
          </a:xfrm>
          <a:prstGeom prst="roundRect">
            <a:avLst>
              <a:gd name="adj" fmla="val 8350"/>
            </a:avLst>
          </a:prstGeom>
          <a:solidFill>
            <a:srgbClr val="E5F0FB"/>
          </a:solidFill>
          <a:ln/>
        </p:spPr>
        <p:txBody>
          <a:bodyPr/>
          <a:lstStyle/>
          <a:p>
            <a:endParaRPr lang="en-US"/>
          </a:p>
        </p:txBody>
      </p:sp>
      <p:sp>
        <p:nvSpPr>
          <p:cNvPr id="11" name="Output"/>
          <p:cNvSpPr txBox="1"/>
          <p:nvPr/>
        </p:nvSpPr>
        <p:spPr>
          <a:xfrm>
            <a:off x="731520" y="3372104"/>
            <a:ext cx="7223760" cy="1386840"/>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name      | calories | sugar</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Ube            |      118 |  20.7</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Vanilla        |      123 |  21.4</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Signature Tart |      124 |  20.9</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(3 rows)</a:t>
            </a:r>
            <a:endParaRPr lang="en-US" sz="1400" dirty="0"/>
          </a:p>
        </p:txBody>
      </p:sp>
      <p:sp>
        <p:nvSpPr>
          <p:cNvPr id="12" name="Takeaway card"/>
          <p:cNvSpPr/>
          <p:nvPr/>
        </p:nvSpPr>
        <p:spPr>
          <a:xfrm>
            <a:off x="8412480" y="3298952"/>
            <a:ext cx="3230575" cy="1533144"/>
          </a:xfrm>
          <a:prstGeom prst="roundRect">
            <a:avLst>
              <a:gd name="adj" fmla="val 8350"/>
            </a:avLst>
          </a:prstGeom>
          <a:solidFill>
            <a:srgbClr val="E5F0FB"/>
          </a:solidFill>
          <a:ln/>
        </p:spPr>
        <p:txBody>
          <a:bodyPr/>
          <a:lstStyle/>
          <a:p>
            <a:endParaRPr lang="en-US"/>
          </a:p>
        </p:txBody>
      </p:sp>
      <p:sp>
        <p:nvSpPr>
          <p:cNvPr id="13" name="Takeaway"/>
          <p:cNvSpPr txBox="1"/>
          <p:nvPr/>
        </p:nvSpPr>
        <p:spPr>
          <a:xfrm>
            <a:off x="8641080" y="3436112"/>
            <a:ext cx="2773375" cy="1258824"/>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Lightest bases: Ube, Vanilla and Signature Tart.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2: What each topping adds</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6b  NATURAL JOIN</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How many calories does each topping add to bowl 104?</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113536"/>
          </a:xfrm>
          <a:prstGeom prst="roundRect">
            <a:avLst>
              <a:gd name="adj" fmla="val 11496"/>
            </a:avLst>
          </a:prstGeom>
          <a:solidFill>
            <a:schemeClr val="tx1"/>
          </a:solidFill>
          <a:ln/>
        </p:spPr>
        <p:txBody>
          <a:bodyPr/>
          <a:lstStyle/>
          <a:p>
            <a:endParaRPr lang="en-US"/>
          </a:p>
        </p:txBody>
      </p:sp>
      <p:sp>
        <p:nvSpPr>
          <p:cNvPr id="8" name="SQL"/>
          <p:cNvSpPr txBox="1"/>
          <p:nvPr/>
        </p:nvSpPr>
        <p:spPr>
          <a:xfrm>
            <a:off x="731520" y="1865376"/>
            <a:ext cx="10728655" cy="967232"/>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name, grams, ROUND(grams * calories / 100.0, 1) AS calories_added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Bowl_Topping NATURAL JOIN Topping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WHERE bowl_id = 104</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calories_added DESC;</a:t>
            </a:r>
            <a:endParaRPr lang="en-US" sz="1400" dirty="0"/>
          </a:p>
        </p:txBody>
      </p:sp>
      <p:sp>
        <p:nvSpPr>
          <p:cNvPr id="9" name="Text 7"/>
          <p:cNvSpPr txBox="1"/>
          <p:nvPr/>
        </p:nvSpPr>
        <p:spPr>
          <a:xfrm>
            <a:off x="548640" y="3042920"/>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298952"/>
            <a:ext cx="7589520" cy="1533144"/>
          </a:xfrm>
          <a:prstGeom prst="roundRect">
            <a:avLst>
              <a:gd name="adj" fmla="val 8350"/>
            </a:avLst>
          </a:prstGeom>
          <a:solidFill>
            <a:srgbClr val="E5F0FB"/>
          </a:solidFill>
          <a:ln/>
        </p:spPr>
        <p:txBody>
          <a:bodyPr/>
          <a:lstStyle/>
          <a:p>
            <a:endParaRPr lang="en-US"/>
          </a:p>
        </p:txBody>
      </p:sp>
      <p:sp>
        <p:nvSpPr>
          <p:cNvPr id="11" name="Output"/>
          <p:cNvSpPr txBox="1"/>
          <p:nvPr/>
        </p:nvSpPr>
        <p:spPr>
          <a:xfrm>
            <a:off x="731520" y="3372104"/>
            <a:ext cx="7223760" cy="1386840"/>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name      | grams | calories_added</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Nutella (Warm) |    40 |          215.2</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Almonds        |    25 |          142.5</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Mini Mochi     |    40 |          140.4</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(3 rows)</a:t>
            </a:r>
            <a:endParaRPr lang="en-US" sz="1400" dirty="0"/>
          </a:p>
        </p:txBody>
      </p:sp>
      <p:sp>
        <p:nvSpPr>
          <p:cNvPr id="12" name="Takeaway card"/>
          <p:cNvSpPr/>
          <p:nvPr/>
        </p:nvSpPr>
        <p:spPr>
          <a:xfrm>
            <a:off x="8412480" y="3298952"/>
            <a:ext cx="3230575" cy="1533144"/>
          </a:xfrm>
          <a:prstGeom prst="roundRect">
            <a:avLst>
              <a:gd name="adj" fmla="val 8350"/>
            </a:avLst>
          </a:prstGeom>
          <a:solidFill>
            <a:srgbClr val="E5F0FB"/>
          </a:solidFill>
          <a:ln/>
        </p:spPr>
        <p:txBody>
          <a:bodyPr/>
          <a:lstStyle/>
          <a:p>
            <a:endParaRPr lang="en-US"/>
          </a:p>
        </p:txBody>
      </p:sp>
      <p:sp>
        <p:nvSpPr>
          <p:cNvPr id="13" name="Takeaway"/>
          <p:cNvSpPr txBox="1"/>
          <p:nvPr/>
        </p:nvSpPr>
        <p:spPr>
          <a:xfrm>
            <a:off x="8641080" y="3436112"/>
            <a:ext cx="2773375" cy="1258824"/>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Nutella adds the most: 215 kcal.</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3: Same query, cross product</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6c  Cross product</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Query 2 rewritten with both tables in FROM and the join in WHERE.</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323340"/>
          </a:xfrm>
          <a:prstGeom prst="roundRect">
            <a:avLst>
              <a:gd name="adj" fmla="val 9674"/>
            </a:avLst>
          </a:prstGeom>
          <a:solidFill>
            <a:schemeClr val="tx1"/>
          </a:solidFill>
          <a:ln/>
        </p:spPr>
        <p:txBody>
          <a:bodyPr/>
          <a:lstStyle/>
          <a:p>
            <a:endParaRPr lang="en-US"/>
          </a:p>
        </p:txBody>
      </p:sp>
      <p:sp>
        <p:nvSpPr>
          <p:cNvPr id="8" name="SQL"/>
          <p:cNvSpPr txBox="1"/>
          <p:nvPr/>
        </p:nvSpPr>
        <p:spPr>
          <a:xfrm>
            <a:off x="731520" y="1865376"/>
            <a:ext cx="10728655" cy="117703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name, grams, ROUND(grams * calories / 100.0, 1) AS calories_added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Bowl_Topping, Topping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WHERE Bowl_Topping.topping_id = Topping.topping_id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AND bowl_id = 104</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calories_added DESC;</a:t>
            </a:r>
            <a:endParaRPr lang="en-US" sz="1400" dirty="0"/>
          </a:p>
        </p:txBody>
      </p:sp>
      <p:sp>
        <p:nvSpPr>
          <p:cNvPr id="9" name="Text 7"/>
          <p:cNvSpPr txBox="1"/>
          <p:nvPr/>
        </p:nvSpPr>
        <p:spPr>
          <a:xfrm>
            <a:off x="548640" y="3252724"/>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508756"/>
            <a:ext cx="7589520" cy="1533144"/>
          </a:xfrm>
          <a:prstGeom prst="roundRect">
            <a:avLst>
              <a:gd name="adj" fmla="val 8350"/>
            </a:avLst>
          </a:prstGeom>
          <a:solidFill>
            <a:srgbClr val="E5F0FB"/>
          </a:solidFill>
          <a:ln/>
        </p:spPr>
        <p:txBody>
          <a:bodyPr/>
          <a:lstStyle/>
          <a:p>
            <a:endParaRPr lang="en-US"/>
          </a:p>
        </p:txBody>
      </p:sp>
      <p:sp>
        <p:nvSpPr>
          <p:cNvPr id="11" name="Output"/>
          <p:cNvSpPr txBox="1"/>
          <p:nvPr/>
        </p:nvSpPr>
        <p:spPr>
          <a:xfrm>
            <a:off x="731520" y="3581908"/>
            <a:ext cx="7223760" cy="1386840"/>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name      | grams | calories_added</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Nutella (Warm) |    40 |          215.2</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Almonds        |    25 |          142.5</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Mini Mochi     |    40 |          140.4</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(3 rows)</a:t>
            </a:r>
            <a:endParaRPr lang="en-US" sz="1400" dirty="0"/>
          </a:p>
        </p:txBody>
      </p:sp>
      <p:sp>
        <p:nvSpPr>
          <p:cNvPr id="12" name="Takeaway card"/>
          <p:cNvSpPr/>
          <p:nvPr/>
        </p:nvSpPr>
        <p:spPr>
          <a:xfrm>
            <a:off x="8412480" y="3508756"/>
            <a:ext cx="3230575" cy="1533144"/>
          </a:xfrm>
          <a:prstGeom prst="roundRect">
            <a:avLst>
              <a:gd name="adj" fmla="val 8350"/>
            </a:avLst>
          </a:prstGeom>
          <a:solidFill>
            <a:srgbClr val="E5F0FB"/>
          </a:solidFill>
          <a:ln/>
        </p:spPr>
        <p:txBody>
          <a:bodyPr/>
          <a:lstStyle/>
          <a:p>
            <a:endParaRPr lang="en-US"/>
          </a:p>
        </p:txBody>
      </p:sp>
      <p:sp>
        <p:nvSpPr>
          <p:cNvPr id="13" name="Takeaway"/>
          <p:cNvSpPr txBox="1"/>
          <p:nvPr/>
        </p:nvSpPr>
        <p:spPr>
          <a:xfrm>
            <a:off x="8641080" y="3645916"/>
            <a:ext cx="2773375" cy="1258824"/>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Identical 3 rows to Query 2.</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4: Heavy topping categories</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6d  GROUP BY / HAVING</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Which topping categories average more than 300 kcal per 100g?</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323340"/>
          </a:xfrm>
          <a:prstGeom prst="roundRect">
            <a:avLst>
              <a:gd name="adj" fmla="val 9674"/>
            </a:avLst>
          </a:prstGeom>
          <a:solidFill>
            <a:schemeClr val="tx1"/>
          </a:solidFill>
          <a:ln/>
        </p:spPr>
        <p:txBody>
          <a:bodyPr/>
          <a:lstStyle/>
          <a:p>
            <a:endParaRPr lang="en-US"/>
          </a:p>
        </p:txBody>
      </p:sp>
      <p:sp>
        <p:nvSpPr>
          <p:cNvPr id="8" name="SQL"/>
          <p:cNvSpPr txBox="1"/>
          <p:nvPr/>
        </p:nvSpPr>
        <p:spPr>
          <a:xfrm>
            <a:off x="731520" y="1865376"/>
            <a:ext cx="10728655" cy="117703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category_name, COUNT(*) AS toppings, ROUND(AVG(calories), 1) AS avg_calories</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Topping NATURAL JOIN Category</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GROUP BY category_name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HAVING AVG(calories) &gt; 300</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avg_calories DESC;</a:t>
            </a:r>
            <a:endParaRPr lang="en-US" sz="1400" dirty="0"/>
          </a:p>
        </p:txBody>
      </p:sp>
      <p:sp>
        <p:nvSpPr>
          <p:cNvPr id="9" name="Text 7"/>
          <p:cNvSpPr txBox="1"/>
          <p:nvPr/>
        </p:nvSpPr>
        <p:spPr>
          <a:xfrm>
            <a:off x="548640" y="3252724"/>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508756"/>
            <a:ext cx="7589520" cy="1533144"/>
          </a:xfrm>
          <a:prstGeom prst="roundRect">
            <a:avLst>
              <a:gd name="adj" fmla="val 8350"/>
            </a:avLst>
          </a:prstGeom>
          <a:solidFill>
            <a:srgbClr val="E5F0FB"/>
          </a:solidFill>
          <a:ln/>
        </p:spPr>
        <p:txBody>
          <a:bodyPr/>
          <a:lstStyle/>
          <a:p>
            <a:endParaRPr lang="en-US"/>
          </a:p>
        </p:txBody>
      </p:sp>
      <p:sp>
        <p:nvSpPr>
          <p:cNvPr id="11" name="Output"/>
          <p:cNvSpPr txBox="1"/>
          <p:nvPr/>
        </p:nvSpPr>
        <p:spPr>
          <a:xfrm>
            <a:off x="731520" y="3581908"/>
            <a:ext cx="7223760" cy="1386840"/>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category_name   | toppings | avg_calories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Crunch           |        2 |        572.0</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Sweet Treats     |        3 |        429.3</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Sauces &amp; Spreads |        3 |        409.0</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(3 rows)</a:t>
            </a:r>
            <a:endParaRPr lang="en-US" sz="1400" dirty="0"/>
          </a:p>
        </p:txBody>
      </p:sp>
      <p:sp>
        <p:nvSpPr>
          <p:cNvPr id="12" name="Takeaway card"/>
          <p:cNvSpPr/>
          <p:nvPr/>
        </p:nvSpPr>
        <p:spPr>
          <a:xfrm>
            <a:off x="8412480" y="3508756"/>
            <a:ext cx="3230575" cy="1533144"/>
          </a:xfrm>
          <a:prstGeom prst="roundRect">
            <a:avLst>
              <a:gd name="adj" fmla="val 8350"/>
            </a:avLst>
          </a:prstGeom>
          <a:solidFill>
            <a:srgbClr val="E5F0FB"/>
          </a:solidFill>
          <a:ln/>
        </p:spPr>
        <p:txBody>
          <a:bodyPr/>
          <a:lstStyle/>
          <a:p>
            <a:endParaRPr lang="en-US"/>
          </a:p>
        </p:txBody>
      </p:sp>
      <p:sp>
        <p:nvSpPr>
          <p:cNvPr id="13" name="Takeaway"/>
          <p:cNvSpPr txBox="1"/>
          <p:nvPr/>
        </p:nvSpPr>
        <p:spPr>
          <a:xfrm>
            <a:off x="8641080" y="3645916"/>
            <a:ext cx="2773375" cy="1258824"/>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Fresh Fruit (44 kcal) is filtered out by HAVING.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5: Sugariest toppings</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6e  Sub-query</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Which toppings have more sugar than the average topping?</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323340"/>
          </a:xfrm>
          <a:prstGeom prst="roundRect">
            <a:avLst>
              <a:gd name="adj" fmla="val 9674"/>
            </a:avLst>
          </a:prstGeom>
          <a:solidFill>
            <a:schemeClr val="tx1"/>
          </a:solidFill>
          <a:ln/>
        </p:spPr>
        <p:txBody>
          <a:bodyPr/>
          <a:lstStyle/>
          <a:p>
            <a:endParaRPr lang="en-US"/>
          </a:p>
        </p:txBody>
      </p:sp>
      <p:sp>
        <p:nvSpPr>
          <p:cNvPr id="8" name="SQL"/>
          <p:cNvSpPr txBox="1"/>
          <p:nvPr/>
        </p:nvSpPr>
        <p:spPr>
          <a:xfrm>
            <a:off x="731520" y="1865376"/>
            <a:ext cx="10728655" cy="117703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name, sugar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Topping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WHERE sugar &gt; (SELECT AVG(sugar)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FROM Topping)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sugar DESC;</a:t>
            </a:r>
            <a:endParaRPr lang="en-US" sz="1400" dirty="0"/>
          </a:p>
        </p:txBody>
      </p:sp>
      <p:sp>
        <p:nvSpPr>
          <p:cNvPr id="9" name="Text 7"/>
          <p:cNvSpPr txBox="1"/>
          <p:nvPr/>
        </p:nvSpPr>
        <p:spPr>
          <a:xfrm>
            <a:off x="548640" y="3252724"/>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508756"/>
            <a:ext cx="7589520" cy="1952752"/>
          </a:xfrm>
          <a:prstGeom prst="roundRect">
            <a:avLst>
              <a:gd name="adj" fmla="val 6556"/>
            </a:avLst>
          </a:prstGeom>
          <a:solidFill>
            <a:srgbClr val="E5F0FB"/>
          </a:solidFill>
          <a:ln/>
        </p:spPr>
        <p:txBody>
          <a:bodyPr/>
          <a:lstStyle/>
          <a:p>
            <a:endParaRPr lang="en-US"/>
          </a:p>
        </p:txBody>
      </p:sp>
      <p:sp>
        <p:nvSpPr>
          <p:cNvPr id="11" name="Output"/>
          <p:cNvSpPr txBox="1"/>
          <p:nvPr/>
        </p:nvSpPr>
        <p:spPr>
          <a:xfrm>
            <a:off x="731520" y="3581908"/>
            <a:ext cx="7223760" cy="1806448"/>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name           | sugar</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Nutella (Warm)          |  56.3</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Chocolate Fudge Brownie |  38.2</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Oreos                   |  38.0</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Biscoff Spread          |  36.8</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Mini Mochi              |  27.9</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(5 rows)</a:t>
            </a:r>
            <a:endParaRPr lang="en-US" sz="1400" dirty="0"/>
          </a:p>
        </p:txBody>
      </p:sp>
      <p:sp>
        <p:nvSpPr>
          <p:cNvPr id="12" name="Takeaway card"/>
          <p:cNvSpPr/>
          <p:nvPr/>
        </p:nvSpPr>
        <p:spPr>
          <a:xfrm>
            <a:off x="8412480" y="3508756"/>
            <a:ext cx="3230575" cy="1952752"/>
          </a:xfrm>
          <a:prstGeom prst="roundRect">
            <a:avLst>
              <a:gd name="adj" fmla="val 6556"/>
            </a:avLst>
          </a:prstGeom>
          <a:solidFill>
            <a:srgbClr val="E5F0FB"/>
          </a:solidFill>
          <a:ln/>
        </p:spPr>
        <p:txBody>
          <a:bodyPr/>
          <a:lstStyle/>
          <a:p>
            <a:endParaRPr lang="en-US"/>
          </a:p>
        </p:txBody>
      </p:sp>
      <p:sp>
        <p:nvSpPr>
          <p:cNvPr id="13" name="Takeaway"/>
          <p:cNvSpPr txBox="1"/>
          <p:nvPr/>
        </p:nvSpPr>
        <p:spPr>
          <a:xfrm>
            <a:off x="8641080" y="3645916"/>
            <a:ext cx="2773375" cy="1678432"/>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5 of 11 toppings beat the 23.7g average.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Query 6: Healthier swaps</a:t>
            </a:r>
            <a:endParaRPr lang="en-US" sz="2800" dirty="0"/>
          </a:p>
        </p:txBody>
      </p:sp>
      <p:sp>
        <p:nvSpPr>
          <p:cNvPr id="3" name="Pill"/>
          <p:cNvSpPr/>
          <p:nvPr/>
        </p:nvSpPr>
        <p:spPr>
          <a:xfrm>
            <a:off x="9128455" y="411480"/>
            <a:ext cx="2514600" cy="438912"/>
          </a:xfrm>
          <a:prstGeom prst="roundRect">
            <a:avLst>
              <a:gd name="adj" fmla="val 50000"/>
            </a:avLst>
          </a:prstGeom>
          <a:solidFill>
            <a:srgbClr val="4E97DE"/>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6f  Self join</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Which same-category swap saves at least 400 kcal per 100g?</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533144"/>
          </a:xfrm>
          <a:prstGeom prst="roundRect">
            <a:avLst>
              <a:gd name="adj" fmla="val 8350"/>
            </a:avLst>
          </a:prstGeom>
          <a:solidFill>
            <a:schemeClr val="tx1"/>
          </a:solidFill>
          <a:ln/>
        </p:spPr>
        <p:txBody>
          <a:bodyPr/>
          <a:lstStyle/>
          <a:p>
            <a:endParaRPr lang="en-US"/>
          </a:p>
        </p:txBody>
      </p:sp>
      <p:sp>
        <p:nvSpPr>
          <p:cNvPr id="8" name="SQL"/>
          <p:cNvSpPr txBox="1"/>
          <p:nvPr/>
        </p:nvSpPr>
        <p:spPr>
          <a:xfrm>
            <a:off x="731520" y="1865376"/>
            <a:ext cx="10728655" cy="1386840"/>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SELECT t1.name AS topping, t2.name AS healthier_swap,</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t1.calories - t2.calories AS calories_saved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Topping t1, Topping t2</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WHERE t1.category_id = t2.category_id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AND t1.calories - t2.calories &gt;= 400</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ORDER BY t1.name;</a:t>
            </a:r>
            <a:endParaRPr lang="en-US" sz="1400" dirty="0"/>
          </a:p>
        </p:txBody>
      </p:sp>
      <p:sp>
        <p:nvSpPr>
          <p:cNvPr id="9" name="Text 7"/>
          <p:cNvSpPr txBox="1"/>
          <p:nvPr/>
        </p:nvSpPr>
        <p:spPr>
          <a:xfrm>
            <a:off x="548640" y="3462528"/>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718560"/>
            <a:ext cx="7589520" cy="1323340"/>
          </a:xfrm>
          <a:prstGeom prst="roundRect">
            <a:avLst>
              <a:gd name="adj" fmla="val 9674"/>
            </a:avLst>
          </a:prstGeom>
          <a:solidFill>
            <a:srgbClr val="E5F0FB"/>
          </a:solidFill>
          <a:ln/>
        </p:spPr>
        <p:txBody>
          <a:bodyPr/>
          <a:lstStyle/>
          <a:p>
            <a:endParaRPr lang="en-US"/>
          </a:p>
        </p:txBody>
      </p:sp>
      <p:sp>
        <p:nvSpPr>
          <p:cNvPr id="11" name="Output"/>
          <p:cNvSpPr txBox="1"/>
          <p:nvPr/>
        </p:nvSpPr>
        <p:spPr>
          <a:xfrm>
            <a:off x="731520" y="3791712"/>
            <a:ext cx="7223760" cy="1177036"/>
          </a:xfrm>
          <a:prstGeom prst="rect">
            <a:avLst/>
          </a:prstGeom>
          <a:noFill/>
          <a:ln/>
        </p:spPr>
        <p:txBody>
          <a:bodyPr wrap="square" lIns="0" tIns="0" rIns="0" bIns="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    topping     |  healthier_swap  | calories_saved</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Biscoff Spread | Raspberry Coulis |            479</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Nutella (Warm) | Raspberry Coulis |            433</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(2 rows)</a:t>
            </a:r>
            <a:endParaRPr lang="en-US" sz="1400" dirty="0"/>
          </a:p>
        </p:txBody>
      </p:sp>
      <p:sp>
        <p:nvSpPr>
          <p:cNvPr id="12" name="Takeaway card"/>
          <p:cNvSpPr/>
          <p:nvPr/>
        </p:nvSpPr>
        <p:spPr>
          <a:xfrm>
            <a:off x="8412480" y="3718560"/>
            <a:ext cx="3230575" cy="1323340"/>
          </a:xfrm>
          <a:prstGeom prst="roundRect">
            <a:avLst>
              <a:gd name="adj" fmla="val 9674"/>
            </a:avLst>
          </a:prstGeom>
          <a:solidFill>
            <a:srgbClr val="E5F0FB"/>
          </a:solidFill>
          <a:ln/>
        </p:spPr>
        <p:txBody>
          <a:bodyPr/>
          <a:lstStyle/>
          <a:p>
            <a:endParaRPr lang="en-US"/>
          </a:p>
        </p:txBody>
      </p:sp>
      <p:sp>
        <p:nvSpPr>
          <p:cNvPr id="13" name="Takeaway"/>
          <p:cNvSpPr txBox="1"/>
          <p:nvPr/>
        </p:nvSpPr>
        <p:spPr>
          <a:xfrm>
            <a:off x="8641080" y="3855720"/>
            <a:ext cx="2773375" cy="104902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Swap Nutella or Biscoff for Raspberry Coulis.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CHECK constraints keep the data real</a:t>
            </a:r>
            <a:endParaRPr lang="en-US" sz="2800" dirty="0"/>
          </a:p>
        </p:txBody>
      </p:sp>
      <p:sp>
        <p:nvSpPr>
          <p:cNvPr id="3" name="Pill"/>
          <p:cNvSpPr/>
          <p:nvPr/>
        </p:nvSpPr>
        <p:spPr>
          <a:xfrm>
            <a:off x="9128455" y="411480"/>
            <a:ext cx="2514600" cy="438912"/>
          </a:xfrm>
          <a:prstGeom prst="roundRect">
            <a:avLst>
              <a:gd name="adj" fmla="val 50000"/>
            </a:avLst>
          </a:prstGeom>
          <a:solidFill>
            <a:srgbClr val="A8C97F"/>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19 CHECKs</a:t>
            </a:r>
            <a:endParaRPr lang="en-US" sz="1300" dirty="0"/>
          </a:p>
        </p:txBody>
      </p:sp>
      <p:sp>
        <p:nvSpPr>
          <p:cNvPr id="5" name="Check card"/>
          <p:cNvSpPr/>
          <p:nvPr/>
        </p:nvSpPr>
        <p:spPr>
          <a:xfrm>
            <a:off x="548640" y="1188720"/>
            <a:ext cx="5387188" cy="2240280"/>
          </a:xfrm>
          <a:prstGeom prst="roundRect">
            <a:avLst>
              <a:gd name="adj" fmla="val 6531"/>
            </a:avLst>
          </a:prstGeom>
          <a:solidFill>
            <a:srgbClr val="EEF5E5"/>
          </a:solidFill>
          <a:ln/>
        </p:spPr>
        <p:txBody>
          <a:bodyPr/>
          <a:lstStyle/>
          <a:p>
            <a:endParaRPr lang="en-US"/>
          </a:p>
        </p:txBody>
      </p:sp>
      <p:sp>
        <p:nvSpPr>
          <p:cNvPr id="6" name="Text 4"/>
          <p:cNvSpPr txBox="1"/>
          <p:nvPr/>
        </p:nvSpPr>
        <p:spPr>
          <a:xfrm>
            <a:off x="822960" y="1389888"/>
            <a:ext cx="483854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Range</a:t>
            </a:r>
            <a:endParaRPr lang="en-US" sz="1800" dirty="0"/>
          </a:p>
        </p:txBody>
      </p:sp>
      <p:sp>
        <p:nvSpPr>
          <p:cNvPr id="7" name="Shape 5"/>
          <p:cNvSpPr/>
          <p:nvPr/>
        </p:nvSpPr>
        <p:spPr>
          <a:xfrm>
            <a:off x="822960" y="1920240"/>
            <a:ext cx="4838548" cy="566928"/>
          </a:xfrm>
          <a:prstGeom prst="roundRect">
            <a:avLst>
              <a:gd name="adj" fmla="val 16129"/>
            </a:avLst>
          </a:prstGeom>
          <a:solidFill>
            <a:schemeClr val="tx1"/>
          </a:solidFill>
          <a:ln/>
        </p:spPr>
        <p:txBody>
          <a:bodyPr/>
          <a:lstStyle/>
          <a:p>
            <a:endParaRPr lang="en-US"/>
          </a:p>
        </p:txBody>
      </p:sp>
      <p:sp>
        <p:nvSpPr>
          <p:cNvPr id="8" name="Text 6"/>
          <p:cNvSpPr txBox="1"/>
          <p:nvPr/>
        </p:nvSpPr>
        <p:spPr>
          <a:xfrm>
            <a:off x="960120" y="1920240"/>
            <a:ext cx="4564228" cy="566928"/>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CHECK ((sugar &gt;= 0) AND (sugar &lt;= 100))</a:t>
            </a:r>
            <a:endParaRPr lang="en-US" sz="1400" dirty="0"/>
          </a:p>
        </p:txBody>
      </p:sp>
      <p:sp>
        <p:nvSpPr>
          <p:cNvPr id="9" name="Text 7"/>
          <p:cNvSpPr txBox="1"/>
          <p:nvPr/>
        </p:nvSpPr>
        <p:spPr>
          <a:xfrm>
            <a:off x="822960" y="2651760"/>
            <a:ext cx="4838548" cy="457200"/>
          </a:xfrm>
          <a:prstGeom prst="rect">
            <a:avLst/>
          </a:prstGeom>
          <a:noFill/>
          <a:ln/>
        </p:spPr>
        <p:txBody>
          <a:bodyPr wrap="square" lIns="0" tIns="0" rIns="0" bIns="0" rtlCol="0" anchor="ctr"/>
          <a:lstStyle/>
          <a:p>
            <a:pPr marL="0" indent="0">
              <a:buNone/>
            </a:pPr>
            <a:r>
              <a:rPr lang="en-US" sz="1800" dirty="0">
                <a:solidFill>
                  <a:schemeClr val="tx1"/>
                </a:solidFill>
                <a:latin typeface="Calibri" pitchFamily="34" charset="0"/>
                <a:ea typeface="Calibri" pitchFamily="34" charset="-122"/>
                <a:cs typeface="Calibri" pitchFamily="34" charset="-120"/>
              </a:rPr>
              <a:t>No more sugar than food.</a:t>
            </a:r>
            <a:endParaRPr lang="en-US" sz="1800" dirty="0"/>
          </a:p>
        </p:txBody>
      </p:sp>
      <p:sp>
        <p:nvSpPr>
          <p:cNvPr id="10" name="Check card"/>
          <p:cNvSpPr/>
          <p:nvPr/>
        </p:nvSpPr>
        <p:spPr>
          <a:xfrm>
            <a:off x="6255868" y="1188720"/>
            <a:ext cx="5387188" cy="2240280"/>
          </a:xfrm>
          <a:prstGeom prst="roundRect">
            <a:avLst>
              <a:gd name="adj" fmla="val 6531"/>
            </a:avLst>
          </a:prstGeom>
          <a:solidFill>
            <a:srgbClr val="A8C97F"/>
          </a:solidFill>
          <a:ln/>
        </p:spPr>
        <p:txBody>
          <a:bodyPr/>
          <a:lstStyle/>
          <a:p>
            <a:endParaRPr lang="en-US"/>
          </a:p>
        </p:txBody>
      </p:sp>
      <p:sp>
        <p:nvSpPr>
          <p:cNvPr id="11" name="Text 9"/>
          <p:cNvSpPr txBox="1"/>
          <p:nvPr/>
        </p:nvSpPr>
        <p:spPr>
          <a:xfrm>
            <a:off x="6530188" y="1389888"/>
            <a:ext cx="483854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Two columns</a:t>
            </a:r>
            <a:endParaRPr lang="en-US" sz="1800" dirty="0"/>
          </a:p>
        </p:txBody>
      </p:sp>
      <p:sp>
        <p:nvSpPr>
          <p:cNvPr id="12" name="Shape 10"/>
          <p:cNvSpPr/>
          <p:nvPr/>
        </p:nvSpPr>
        <p:spPr>
          <a:xfrm>
            <a:off x="6530188" y="1920240"/>
            <a:ext cx="4838548" cy="566928"/>
          </a:xfrm>
          <a:prstGeom prst="roundRect">
            <a:avLst>
              <a:gd name="adj" fmla="val 16129"/>
            </a:avLst>
          </a:prstGeom>
          <a:solidFill>
            <a:schemeClr val="tx1"/>
          </a:solidFill>
          <a:ln/>
        </p:spPr>
        <p:txBody>
          <a:bodyPr/>
          <a:lstStyle/>
          <a:p>
            <a:endParaRPr lang="en-US"/>
          </a:p>
        </p:txBody>
      </p:sp>
      <p:sp>
        <p:nvSpPr>
          <p:cNvPr id="13" name="Text 11"/>
          <p:cNvSpPr txBox="1"/>
          <p:nvPr/>
        </p:nvSpPr>
        <p:spPr>
          <a:xfrm>
            <a:off x="6667348" y="1920240"/>
            <a:ext cx="4564228" cy="566928"/>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CHECK (calories &gt;= sugar * 4)</a:t>
            </a:r>
            <a:endParaRPr lang="en-US" sz="1400" dirty="0"/>
          </a:p>
        </p:txBody>
      </p:sp>
      <p:sp>
        <p:nvSpPr>
          <p:cNvPr id="14" name="Text 12"/>
          <p:cNvSpPr txBox="1"/>
          <p:nvPr/>
        </p:nvSpPr>
        <p:spPr>
          <a:xfrm>
            <a:off x="6530188" y="2651760"/>
            <a:ext cx="4838548" cy="457200"/>
          </a:xfrm>
          <a:prstGeom prst="rect">
            <a:avLst/>
          </a:prstGeom>
          <a:noFill/>
          <a:ln/>
        </p:spPr>
        <p:txBody>
          <a:bodyPr wrap="square" lIns="0" tIns="0" rIns="0" bIns="0" rtlCol="0" anchor="ctr"/>
          <a:lstStyle/>
          <a:p>
            <a:pPr marL="0" indent="0">
              <a:buNone/>
            </a:pPr>
            <a:r>
              <a:rPr lang="en-US" sz="1800" dirty="0">
                <a:solidFill>
                  <a:schemeClr val="tx1"/>
                </a:solidFill>
                <a:latin typeface="Calibri" pitchFamily="34" charset="0"/>
                <a:ea typeface="Calibri" pitchFamily="34" charset="-122"/>
                <a:cs typeface="Calibri" pitchFamily="34" charset="-120"/>
              </a:rPr>
              <a:t>1g of sugar = about 4 kcal.</a:t>
            </a:r>
            <a:endParaRPr lang="en-US" sz="1800" dirty="0"/>
          </a:p>
        </p:txBody>
      </p:sp>
      <p:sp>
        <p:nvSpPr>
          <p:cNvPr id="15" name="Check card"/>
          <p:cNvSpPr/>
          <p:nvPr/>
        </p:nvSpPr>
        <p:spPr>
          <a:xfrm>
            <a:off x="548640" y="3703320"/>
            <a:ext cx="5387188" cy="2240280"/>
          </a:xfrm>
          <a:prstGeom prst="roundRect">
            <a:avLst>
              <a:gd name="adj" fmla="val 6531"/>
            </a:avLst>
          </a:prstGeom>
          <a:solidFill>
            <a:srgbClr val="EEF5E5"/>
          </a:solidFill>
          <a:ln/>
        </p:spPr>
        <p:txBody>
          <a:bodyPr/>
          <a:lstStyle/>
          <a:p>
            <a:endParaRPr lang="en-US"/>
          </a:p>
        </p:txBody>
      </p:sp>
      <p:sp>
        <p:nvSpPr>
          <p:cNvPr id="16" name="Text 14"/>
          <p:cNvSpPr txBox="1"/>
          <p:nvPr/>
        </p:nvSpPr>
        <p:spPr>
          <a:xfrm>
            <a:off x="822960" y="3904488"/>
            <a:ext cx="483854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Allowed values</a:t>
            </a:r>
            <a:endParaRPr lang="en-US" sz="1800" dirty="0"/>
          </a:p>
        </p:txBody>
      </p:sp>
      <p:sp>
        <p:nvSpPr>
          <p:cNvPr id="17" name="Shape 15"/>
          <p:cNvSpPr/>
          <p:nvPr/>
        </p:nvSpPr>
        <p:spPr>
          <a:xfrm>
            <a:off x="822960" y="4434840"/>
            <a:ext cx="4838548" cy="566928"/>
          </a:xfrm>
          <a:prstGeom prst="roundRect">
            <a:avLst>
              <a:gd name="adj" fmla="val 16129"/>
            </a:avLst>
          </a:prstGeom>
          <a:solidFill>
            <a:schemeClr val="tx1"/>
          </a:solidFill>
          <a:ln/>
        </p:spPr>
        <p:txBody>
          <a:bodyPr/>
          <a:lstStyle/>
          <a:p>
            <a:endParaRPr lang="en-US"/>
          </a:p>
        </p:txBody>
      </p:sp>
      <p:sp>
        <p:nvSpPr>
          <p:cNvPr id="18" name="Text 16"/>
          <p:cNvSpPr txBox="1"/>
          <p:nvPr/>
        </p:nvSpPr>
        <p:spPr>
          <a:xfrm>
            <a:off x="960120" y="4434840"/>
            <a:ext cx="4564228" cy="566928"/>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CHECK (category_name IN (...))</a:t>
            </a:r>
            <a:endParaRPr lang="en-US" sz="1400" dirty="0"/>
          </a:p>
        </p:txBody>
      </p:sp>
      <p:sp>
        <p:nvSpPr>
          <p:cNvPr id="19" name="Text 17"/>
          <p:cNvSpPr txBox="1"/>
          <p:nvPr/>
        </p:nvSpPr>
        <p:spPr>
          <a:xfrm>
            <a:off x="822960" y="5166360"/>
            <a:ext cx="4838548" cy="457200"/>
          </a:xfrm>
          <a:prstGeom prst="rect">
            <a:avLst/>
          </a:prstGeom>
          <a:noFill/>
          <a:ln/>
        </p:spPr>
        <p:txBody>
          <a:bodyPr wrap="square" lIns="0" tIns="0" rIns="0" bIns="0" rtlCol="0" anchor="ctr"/>
          <a:lstStyle/>
          <a:p>
            <a:pPr marL="0" indent="0">
              <a:buNone/>
            </a:pPr>
            <a:r>
              <a:rPr lang="en-US" sz="1800" dirty="0">
                <a:solidFill>
                  <a:schemeClr val="tx1"/>
                </a:solidFill>
                <a:latin typeface="Calibri" pitchFamily="34" charset="0"/>
                <a:ea typeface="Calibri" pitchFamily="34" charset="-122"/>
                <a:cs typeface="Calibri" pitchFamily="34" charset="-120"/>
              </a:rPr>
              <a:t>Only real categories.</a:t>
            </a:r>
            <a:endParaRPr lang="en-US" sz="1800" dirty="0"/>
          </a:p>
        </p:txBody>
      </p:sp>
      <p:sp>
        <p:nvSpPr>
          <p:cNvPr id="20" name="Check card"/>
          <p:cNvSpPr/>
          <p:nvPr/>
        </p:nvSpPr>
        <p:spPr>
          <a:xfrm>
            <a:off x="6255868" y="3703320"/>
            <a:ext cx="5387188" cy="2240280"/>
          </a:xfrm>
          <a:prstGeom prst="roundRect">
            <a:avLst>
              <a:gd name="adj" fmla="val 6531"/>
            </a:avLst>
          </a:prstGeom>
          <a:solidFill>
            <a:srgbClr val="EEF5E5"/>
          </a:solidFill>
          <a:ln/>
        </p:spPr>
        <p:txBody>
          <a:bodyPr/>
          <a:lstStyle/>
          <a:p>
            <a:endParaRPr lang="en-US"/>
          </a:p>
        </p:txBody>
      </p:sp>
      <p:sp>
        <p:nvSpPr>
          <p:cNvPr id="21" name="Text 19"/>
          <p:cNvSpPr txBox="1"/>
          <p:nvPr/>
        </p:nvSpPr>
        <p:spPr>
          <a:xfrm>
            <a:off x="6530188" y="3904488"/>
            <a:ext cx="483854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Amounts</a:t>
            </a:r>
            <a:endParaRPr lang="en-US" sz="1800" dirty="0"/>
          </a:p>
        </p:txBody>
      </p:sp>
      <p:sp>
        <p:nvSpPr>
          <p:cNvPr id="22" name="Shape 20"/>
          <p:cNvSpPr/>
          <p:nvPr/>
        </p:nvSpPr>
        <p:spPr>
          <a:xfrm>
            <a:off x="6530188" y="4434840"/>
            <a:ext cx="4838548" cy="566928"/>
          </a:xfrm>
          <a:prstGeom prst="roundRect">
            <a:avLst>
              <a:gd name="adj" fmla="val 16129"/>
            </a:avLst>
          </a:prstGeom>
          <a:solidFill>
            <a:schemeClr val="tx1"/>
          </a:solidFill>
          <a:ln/>
        </p:spPr>
        <p:txBody>
          <a:bodyPr/>
          <a:lstStyle/>
          <a:p>
            <a:endParaRPr lang="en-US"/>
          </a:p>
        </p:txBody>
      </p:sp>
      <p:sp>
        <p:nvSpPr>
          <p:cNvPr id="23" name="Text 21"/>
          <p:cNvSpPr txBox="1"/>
          <p:nvPr/>
        </p:nvSpPr>
        <p:spPr>
          <a:xfrm>
            <a:off x="6667348" y="4434840"/>
            <a:ext cx="4564228" cy="566928"/>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CHECK ((grams &gt; 0) AND (grams &lt;= 1000))</a:t>
            </a:r>
            <a:endParaRPr lang="en-US" sz="1400" dirty="0"/>
          </a:p>
        </p:txBody>
      </p:sp>
      <p:sp>
        <p:nvSpPr>
          <p:cNvPr id="24" name="Text 22"/>
          <p:cNvSpPr txBox="1"/>
          <p:nvPr/>
        </p:nvSpPr>
        <p:spPr>
          <a:xfrm>
            <a:off x="6530188" y="5166360"/>
            <a:ext cx="4838548" cy="457200"/>
          </a:xfrm>
          <a:prstGeom prst="rect">
            <a:avLst/>
          </a:prstGeom>
          <a:noFill/>
          <a:ln/>
        </p:spPr>
        <p:txBody>
          <a:bodyPr wrap="square" lIns="0" tIns="0" rIns="0" bIns="0" rtlCol="0" anchor="ctr"/>
          <a:lstStyle/>
          <a:p>
            <a:pPr marL="0" indent="0">
              <a:buNone/>
            </a:pPr>
            <a:r>
              <a:rPr lang="en-US" sz="1800" dirty="0">
                <a:solidFill>
                  <a:schemeClr val="tx1"/>
                </a:solidFill>
                <a:latin typeface="Calibri" pitchFamily="34" charset="0"/>
                <a:ea typeface="Calibri" pitchFamily="34" charset="-122"/>
                <a:cs typeface="Calibri" pitchFamily="34" charset="-120"/>
              </a:rPr>
              <a:t>No empty or giant scoops.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ON DELETE: protect or clean up</a:t>
            </a:r>
            <a:endParaRPr lang="en-US" sz="2800" dirty="0"/>
          </a:p>
        </p:txBody>
      </p:sp>
      <p:sp>
        <p:nvSpPr>
          <p:cNvPr id="3" name="Pill"/>
          <p:cNvSpPr/>
          <p:nvPr/>
        </p:nvSpPr>
        <p:spPr>
          <a:xfrm>
            <a:off x="9128455" y="411480"/>
            <a:ext cx="2514600" cy="438912"/>
          </a:xfrm>
          <a:prstGeom prst="roundRect">
            <a:avLst>
              <a:gd name="adj" fmla="val 50000"/>
            </a:avLst>
          </a:prstGeom>
          <a:solidFill>
            <a:srgbClr val="A8C97F"/>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Referential integrity</a:t>
            </a:r>
            <a:endParaRPr lang="en-US" sz="1300" dirty="0"/>
          </a:p>
        </p:txBody>
      </p:sp>
      <p:sp>
        <p:nvSpPr>
          <p:cNvPr id="5" name="RESTRICT card"/>
          <p:cNvSpPr/>
          <p:nvPr/>
        </p:nvSpPr>
        <p:spPr>
          <a:xfrm>
            <a:off x="548640" y="1188720"/>
            <a:ext cx="5364328" cy="4983480"/>
          </a:xfrm>
          <a:prstGeom prst="roundRect">
            <a:avLst>
              <a:gd name="adj" fmla="val 2936"/>
            </a:avLst>
          </a:prstGeom>
          <a:solidFill>
            <a:srgbClr val="FDEBF0"/>
          </a:solidFill>
          <a:ln/>
        </p:spPr>
        <p:txBody>
          <a:bodyPr/>
          <a:lstStyle/>
          <a:p>
            <a:endParaRPr lang="en-US"/>
          </a:p>
        </p:txBody>
      </p:sp>
      <p:sp>
        <p:nvSpPr>
          <p:cNvPr id="6" name="Pill"/>
          <p:cNvSpPr/>
          <p:nvPr/>
        </p:nvSpPr>
        <p:spPr>
          <a:xfrm>
            <a:off x="822960" y="1463040"/>
            <a:ext cx="3108960" cy="502920"/>
          </a:xfrm>
          <a:prstGeom prst="roundRect">
            <a:avLst>
              <a:gd name="adj" fmla="val 50000"/>
            </a:avLst>
          </a:prstGeom>
          <a:solidFill>
            <a:srgbClr val="F2A7BB"/>
          </a:solidFill>
          <a:ln/>
        </p:spPr>
        <p:txBody>
          <a:bodyPr/>
          <a:lstStyle/>
          <a:p>
            <a:endParaRPr lang="en-US"/>
          </a:p>
        </p:txBody>
      </p:sp>
      <p:sp>
        <p:nvSpPr>
          <p:cNvPr id="7" name="Pill text"/>
          <p:cNvSpPr txBox="1"/>
          <p:nvPr/>
        </p:nvSpPr>
        <p:spPr>
          <a:xfrm>
            <a:off x="822960" y="1463040"/>
            <a:ext cx="3108960" cy="502920"/>
          </a:xfrm>
          <a:prstGeom prst="rect">
            <a:avLst/>
          </a:prstGeom>
          <a:noFill/>
          <a:ln/>
        </p:spPr>
        <p:txBody>
          <a:bodyPr wrap="square" lIns="0" tIns="0" rIns="0" bIns="0" rtlCol="0" anchor="ctr"/>
          <a:lstStyle/>
          <a:p>
            <a:pPr marL="0" indent="0" algn="ctr">
              <a:buNone/>
            </a:pPr>
            <a:r>
              <a:rPr lang="en-US" sz="1700" b="1" dirty="0">
                <a:solidFill>
                  <a:schemeClr val="tx1"/>
                </a:solidFill>
                <a:latin typeface="Calibri" pitchFamily="34" charset="0"/>
                <a:ea typeface="Calibri" pitchFamily="34" charset="-122"/>
                <a:cs typeface="Calibri" pitchFamily="34" charset="-120"/>
              </a:rPr>
              <a:t>ON DELETE RESTRICT</a:t>
            </a:r>
            <a:endParaRPr lang="en-US" sz="1700" dirty="0"/>
          </a:p>
        </p:txBody>
      </p:sp>
      <p:sp>
        <p:nvSpPr>
          <p:cNvPr id="8" name="Text 6"/>
          <p:cNvSpPr txBox="1"/>
          <p:nvPr/>
        </p:nvSpPr>
        <p:spPr>
          <a:xfrm>
            <a:off x="822960" y="2240280"/>
            <a:ext cx="4815688" cy="1188720"/>
          </a:xfrm>
          <a:prstGeom prst="rect">
            <a:avLst/>
          </a:prstGeom>
          <a:noFill/>
          <a:ln/>
        </p:spPr>
        <p:txBody>
          <a:bodyPr wrap="square" lIns="0" tIns="0" rIns="0" bIns="0" rtlCol="0" anchor="t"/>
          <a:lstStyle/>
          <a:p>
            <a:pPr marL="0" indent="0">
              <a:buNone/>
            </a:pPr>
            <a:r>
              <a:rPr lang="en-US" sz="1500" dirty="0">
                <a:solidFill>
                  <a:schemeClr val="tx1"/>
                </a:solidFill>
                <a:latin typeface="Courier New" pitchFamily="34" charset="0"/>
                <a:ea typeface="Courier New" pitchFamily="34" charset="-122"/>
                <a:cs typeface="Courier New" pitchFamily="34" charset="-120"/>
              </a:rPr>
              <a:t>CONSTRAINT Bowl_FlavourFK_Flavour</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FOREIGN KEY (flavour_id)</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REFERENCES Flavour</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ON DELETE RESTRICT</a:t>
            </a:r>
            <a:endParaRPr lang="en-US" sz="1500" dirty="0"/>
          </a:p>
        </p:txBody>
      </p:sp>
      <p:sp>
        <p:nvSpPr>
          <p:cNvPr id="9" name="Text 7"/>
          <p:cNvSpPr txBox="1"/>
          <p:nvPr/>
        </p:nvSpPr>
        <p:spPr>
          <a:xfrm>
            <a:off x="822960" y="3611880"/>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TRY IT</a:t>
            </a:r>
            <a:endParaRPr lang="en-US" sz="1100" dirty="0"/>
          </a:p>
        </p:txBody>
      </p:sp>
      <p:sp>
        <p:nvSpPr>
          <p:cNvPr id="10" name="Text 8"/>
          <p:cNvSpPr txBox="1"/>
          <p:nvPr/>
        </p:nvSpPr>
        <p:spPr>
          <a:xfrm>
            <a:off x="822960" y="3886200"/>
            <a:ext cx="4815688" cy="36576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DELETE FROM Flavour WHERE flavour_id = 1;</a:t>
            </a:r>
            <a:endParaRPr lang="en-US" sz="1300" dirty="0"/>
          </a:p>
        </p:txBody>
      </p:sp>
      <p:sp>
        <p:nvSpPr>
          <p:cNvPr id="11" name="Shape 9"/>
          <p:cNvSpPr/>
          <p:nvPr/>
        </p:nvSpPr>
        <p:spPr>
          <a:xfrm>
            <a:off x="822960" y="4480560"/>
            <a:ext cx="4815688" cy="1005840"/>
          </a:xfrm>
          <a:prstGeom prst="roundRect">
            <a:avLst>
              <a:gd name="adj" fmla="val 10909"/>
            </a:avLst>
          </a:prstGeom>
          <a:solidFill>
            <a:schemeClr val="tx1"/>
          </a:solidFill>
          <a:ln/>
        </p:spPr>
        <p:txBody>
          <a:bodyPr/>
          <a:lstStyle/>
          <a:p>
            <a:endParaRPr lang="en-US"/>
          </a:p>
        </p:txBody>
      </p:sp>
      <p:sp>
        <p:nvSpPr>
          <p:cNvPr id="12" name="Text 10"/>
          <p:cNvSpPr txBox="1"/>
          <p:nvPr/>
        </p:nvSpPr>
        <p:spPr>
          <a:xfrm>
            <a:off x="1005840" y="4480560"/>
            <a:ext cx="4449928" cy="100584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ERROR: Vanilla is still in bowl 101</a:t>
            </a:r>
            <a:endParaRPr lang="en-US" sz="2000" dirty="0"/>
          </a:p>
        </p:txBody>
      </p:sp>
      <p:sp>
        <p:nvSpPr>
          <p:cNvPr id="13" name="CASCADE card"/>
          <p:cNvSpPr/>
          <p:nvPr/>
        </p:nvSpPr>
        <p:spPr>
          <a:xfrm>
            <a:off x="6278728" y="1188720"/>
            <a:ext cx="5364328" cy="4983480"/>
          </a:xfrm>
          <a:prstGeom prst="roundRect">
            <a:avLst>
              <a:gd name="adj" fmla="val 2936"/>
            </a:avLst>
          </a:prstGeom>
          <a:solidFill>
            <a:srgbClr val="EEF5E5"/>
          </a:solidFill>
          <a:ln/>
        </p:spPr>
        <p:txBody>
          <a:bodyPr/>
          <a:lstStyle/>
          <a:p>
            <a:endParaRPr lang="en-US"/>
          </a:p>
        </p:txBody>
      </p:sp>
      <p:sp>
        <p:nvSpPr>
          <p:cNvPr id="14" name="Pill"/>
          <p:cNvSpPr/>
          <p:nvPr/>
        </p:nvSpPr>
        <p:spPr>
          <a:xfrm>
            <a:off x="6553048" y="1463040"/>
            <a:ext cx="3108960" cy="502920"/>
          </a:xfrm>
          <a:prstGeom prst="roundRect">
            <a:avLst>
              <a:gd name="adj" fmla="val 50000"/>
            </a:avLst>
          </a:prstGeom>
          <a:solidFill>
            <a:srgbClr val="A8C97F"/>
          </a:solidFill>
          <a:ln/>
        </p:spPr>
        <p:txBody>
          <a:bodyPr/>
          <a:lstStyle/>
          <a:p>
            <a:endParaRPr lang="en-US"/>
          </a:p>
        </p:txBody>
      </p:sp>
      <p:sp>
        <p:nvSpPr>
          <p:cNvPr id="15" name="Pill text"/>
          <p:cNvSpPr txBox="1"/>
          <p:nvPr/>
        </p:nvSpPr>
        <p:spPr>
          <a:xfrm>
            <a:off x="6553048" y="1463040"/>
            <a:ext cx="3108960" cy="502920"/>
          </a:xfrm>
          <a:prstGeom prst="rect">
            <a:avLst/>
          </a:prstGeom>
          <a:noFill/>
          <a:ln/>
        </p:spPr>
        <p:txBody>
          <a:bodyPr wrap="square" lIns="0" tIns="0" rIns="0" bIns="0" rtlCol="0" anchor="ctr"/>
          <a:lstStyle/>
          <a:p>
            <a:pPr marL="0" indent="0" algn="ctr">
              <a:buNone/>
            </a:pPr>
            <a:r>
              <a:rPr lang="en-US" sz="1700" b="1" dirty="0">
                <a:solidFill>
                  <a:schemeClr val="tx1"/>
                </a:solidFill>
                <a:latin typeface="Calibri" pitchFamily="34" charset="0"/>
                <a:ea typeface="Calibri" pitchFamily="34" charset="-122"/>
                <a:cs typeface="Calibri" pitchFamily="34" charset="-120"/>
              </a:rPr>
              <a:t>ON DELETE CASCADE</a:t>
            </a:r>
            <a:endParaRPr lang="en-US" sz="1700" dirty="0"/>
          </a:p>
        </p:txBody>
      </p:sp>
      <p:sp>
        <p:nvSpPr>
          <p:cNvPr id="16" name="Text 14"/>
          <p:cNvSpPr txBox="1"/>
          <p:nvPr/>
        </p:nvSpPr>
        <p:spPr>
          <a:xfrm>
            <a:off x="6553048" y="2240280"/>
            <a:ext cx="4815688" cy="1188720"/>
          </a:xfrm>
          <a:prstGeom prst="rect">
            <a:avLst/>
          </a:prstGeom>
          <a:noFill/>
          <a:ln/>
        </p:spPr>
        <p:txBody>
          <a:bodyPr wrap="square" lIns="0" tIns="0" rIns="0" bIns="0" rtlCol="0" anchor="t"/>
          <a:lstStyle/>
          <a:p>
            <a:pPr marL="0" indent="0">
              <a:buNone/>
            </a:pPr>
            <a:r>
              <a:rPr lang="en-US" sz="1500" dirty="0">
                <a:solidFill>
                  <a:schemeClr val="tx1"/>
                </a:solidFill>
                <a:latin typeface="Courier New" pitchFamily="34" charset="0"/>
                <a:ea typeface="Courier New" pitchFamily="34" charset="-122"/>
                <a:cs typeface="Courier New" pitchFamily="34" charset="-120"/>
              </a:rPr>
              <a:t>CONSTRAINT BowlFK_Customer</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FOREIGN KEY (customer_id)</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REFERENCES Customer</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ON DELETE CASCADE</a:t>
            </a:r>
            <a:endParaRPr lang="en-US" sz="1500" dirty="0"/>
          </a:p>
        </p:txBody>
      </p:sp>
      <p:sp>
        <p:nvSpPr>
          <p:cNvPr id="17" name="Text 15"/>
          <p:cNvSpPr txBox="1"/>
          <p:nvPr/>
        </p:nvSpPr>
        <p:spPr>
          <a:xfrm>
            <a:off x="6553048" y="3611880"/>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TRY IT</a:t>
            </a:r>
            <a:endParaRPr lang="en-US" sz="1100" dirty="0"/>
          </a:p>
        </p:txBody>
      </p:sp>
      <p:sp>
        <p:nvSpPr>
          <p:cNvPr id="18" name="Text 16"/>
          <p:cNvSpPr txBox="1"/>
          <p:nvPr/>
        </p:nvSpPr>
        <p:spPr>
          <a:xfrm>
            <a:off x="6553048" y="3886200"/>
            <a:ext cx="4815688" cy="36576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DELETE FROM Customer WHERE customer_id = 1;</a:t>
            </a:r>
            <a:endParaRPr lang="en-US" sz="1300" dirty="0"/>
          </a:p>
        </p:txBody>
      </p:sp>
      <p:sp>
        <p:nvSpPr>
          <p:cNvPr id="19" name="Shape 17"/>
          <p:cNvSpPr/>
          <p:nvPr/>
        </p:nvSpPr>
        <p:spPr>
          <a:xfrm>
            <a:off x="6553048" y="4480560"/>
            <a:ext cx="4815688" cy="1005840"/>
          </a:xfrm>
          <a:prstGeom prst="roundRect">
            <a:avLst>
              <a:gd name="adj" fmla="val 10909"/>
            </a:avLst>
          </a:prstGeom>
          <a:solidFill>
            <a:schemeClr val="tx1"/>
          </a:solidFill>
          <a:ln/>
        </p:spPr>
        <p:txBody>
          <a:bodyPr/>
          <a:lstStyle/>
          <a:p>
            <a:endParaRPr lang="en-US"/>
          </a:p>
        </p:txBody>
      </p:sp>
      <p:sp>
        <p:nvSpPr>
          <p:cNvPr id="20" name="Text 18"/>
          <p:cNvSpPr txBox="1"/>
          <p:nvPr/>
        </p:nvSpPr>
        <p:spPr>
          <a:xfrm>
            <a:off x="6735928" y="4480560"/>
            <a:ext cx="4449928" cy="100584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Mia's 3 bowls are deleted too</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The view: Bowl_Summary</a:t>
            </a:r>
            <a:endParaRPr lang="en-US" sz="2800" dirty="0"/>
          </a:p>
        </p:txBody>
      </p:sp>
      <p:sp>
        <p:nvSpPr>
          <p:cNvPr id="3" name="Pill"/>
          <p:cNvSpPr/>
          <p:nvPr/>
        </p:nvSpPr>
        <p:spPr>
          <a:xfrm>
            <a:off x="9128455" y="411480"/>
            <a:ext cx="2514600" cy="438912"/>
          </a:xfrm>
          <a:prstGeom prst="roundRect">
            <a:avLst>
              <a:gd name="adj" fmla="val 50000"/>
            </a:avLst>
          </a:prstGeom>
          <a:solidFill>
            <a:srgbClr val="F2A7BB"/>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CREATE VIEW</a:t>
            </a:r>
            <a:endParaRPr lang="en-US" sz="1300" dirty="0"/>
          </a:p>
        </p:txBody>
      </p:sp>
      <p:sp>
        <p:nvSpPr>
          <p:cNvPr id="5" name="Scoop"/>
          <p:cNvSpPr/>
          <p:nvPr/>
        </p:nvSpPr>
        <p:spPr>
          <a:xfrm>
            <a:off x="548640" y="1325880"/>
            <a:ext cx="640080" cy="640080"/>
          </a:xfrm>
          <a:prstGeom prst="ellipse">
            <a:avLst/>
          </a:prstGeom>
          <a:solidFill>
            <a:srgbClr val="F2A7BB"/>
          </a:solidFill>
          <a:ln/>
        </p:spPr>
        <p:txBody>
          <a:bodyPr/>
          <a:lstStyle/>
          <a:p>
            <a:endParaRPr lang="en-US"/>
          </a:p>
        </p:txBody>
      </p:sp>
      <p:sp>
        <p:nvSpPr>
          <p:cNvPr id="6" name="Text 4"/>
          <p:cNvSpPr txBox="1"/>
          <p:nvPr/>
        </p:nvSpPr>
        <p:spPr>
          <a:xfrm>
            <a:off x="548640" y="132588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1</a:t>
            </a:r>
            <a:endParaRPr lang="en-US" sz="2200" dirty="0"/>
          </a:p>
        </p:txBody>
      </p:sp>
      <p:sp>
        <p:nvSpPr>
          <p:cNvPr id="7" name="Text 5"/>
          <p:cNvSpPr txBox="1"/>
          <p:nvPr/>
        </p:nvSpPr>
        <p:spPr>
          <a:xfrm>
            <a:off x="1417320" y="1307592"/>
            <a:ext cx="402336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Add up the flavours</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grams x value / 100, per bowl</a:t>
            </a:r>
            <a:endParaRPr lang="en-US" sz="1900" dirty="0"/>
          </a:p>
        </p:txBody>
      </p:sp>
      <p:sp>
        <p:nvSpPr>
          <p:cNvPr id="8" name="Scoop"/>
          <p:cNvSpPr/>
          <p:nvPr/>
        </p:nvSpPr>
        <p:spPr>
          <a:xfrm>
            <a:off x="548640" y="2651760"/>
            <a:ext cx="640080" cy="640080"/>
          </a:xfrm>
          <a:prstGeom prst="ellipse">
            <a:avLst/>
          </a:prstGeom>
          <a:solidFill>
            <a:srgbClr val="F5D04C"/>
          </a:solidFill>
          <a:ln/>
        </p:spPr>
        <p:txBody>
          <a:bodyPr/>
          <a:lstStyle/>
          <a:p>
            <a:endParaRPr lang="en-US"/>
          </a:p>
        </p:txBody>
      </p:sp>
      <p:sp>
        <p:nvSpPr>
          <p:cNvPr id="9" name="Text 7"/>
          <p:cNvSpPr txBox="1"/>
          <p:nvPr/>
        </p:nvSpPr>
        <p:spPr>
          <a:xfrm>
            <a:off x="548640" y="265176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2</a:t>
            </a:r>
            <a:endParaRPr lang="en-US" sz="2200" dirty="0"/>
          </a:p>
        </p:txBody>
      </p:sp>
      <p:sp>
        <p:nvSpPr>
          <p:cNvPr id="10" name="Text 8"/>
          <p:cNvSpPr txBox="1"/>
          <p:nvPr/>
        </p:nvSpPr>
        <p:spPr>
          <a:xfrm>
            <a:off x="1417320" y="2633472"/>
            <a:ext cx="402336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Add up the toppings</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LEFT JOIN: toppings are optional</a:t>
            </a:r>
            <a:endParaRPr lang="en-US" sz="1900" dirty="0"/>
          </a:p>
        </p:txBody>
      </p:sp>
      <p:sp>
        <p:nvSpPr>
          <p:cNvPr id="11" name="Scoop"/>
          <p:cNvSpPr/>
          <p:nvPr/>
        </p:nvSpPr>
        <p:spPr>
          <a:xfrm>
            <a:off x="548640" y="3977640"/>
            <a:ext cx="640080" cy="640080"/>
          </a:xfrm>
          <a:prstGeom prst="ellipse">
            <a:avLst/>
          </a:prstGeom>
          <a:solidFill>
            <a:srgbClr val="4E97DE"/>
          </a:solidFill>
          <a:ln/>
        </p:spPr>
        <p:txBody>
          <a:bodyPr/>
          <a:lstStyle/>
          <a:p>
            <a:endParaRPr lang="en-US"/>
          </a:p>
        </p:txBody>
      </p:sp>
      <p:sp>
        <p:nvSpPr>
          <p:cNvPr id="12" name="Text 10"/>
          <p:cNvSpPr txBox="1"/>
          <p:nvPr/>
        </p:nvSpPr>
        <p:spPr>
          <a:xfrm>
            <a:off x="548640" y="3977640"/>
            <a:ext cx="6400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3</a:t>
            </a:r>
            <a:endParaRPr lang="en-US" sz="2200" dirty="0"/>
          </a:p>
        </p:txBody>
      </p:sp>
      <p:sp>
        <p:nvSpPr>
          <p:cNvPr id="13" name="Text 11"/>
          <p:cNvSpPr txBox="1"/>
          <p:nvPr/>
        </p:nvSpPr>
        <p:spPr>
          <a:xfrm>
            <a:off x="1417320" y="3974850"/>
            <a:ext cx="4023360" cy="914400"/>
          </a:xfrm>
          <a:prstGeom prst="rect">
            <a:avLst/>
          </a:prstGeom>
          <a:noFill/>
          <a:ln/>
        </p:spPr>
        <p:txBody>
          <a:bodyPr wrap="square" lIns="0" tIns="0" rIns="0" bIns="0" rtlCol="0" anchor="t"/>
          <a:lstStyle/>
          <a:p>
            <a:pPr marL="0" indent="0">
              <a:buNone/>
            </a:pPr>
            <a:r>
              <a:rPr lang="en-US" sz="1900" b="1" dirty="0">
                <a:solidFill>
                  <a:schemeClr val="tx1"/>
                </a:solidFill>
                <a:latin typeface="Calibri" pitchFamily="34" charset="0"/>
                <a:ea typeface="Calibri" pitchFamily="34" charset="-122"/>
                <a:cs typeface="Calibri" pitchFamily="34" charset="-120"/>
              </a:rPr>
              <a:t>Compare with limits</a:t>
            </a:r>
            <a:endParaRPr lang="en-US" sz="1900" dirty="0"/>
          </a:p>
          <a:p>
            <a:pPr marL="0" indent="0">
              <a:buNone/>
            </a:pPr>
            <a:r>
              <a:rPr lang="en-US" sz="1500" dirty="0">
                <a:solidFill>
                  <a:schemeClr val="accent5"/>
                </a:solidFill>
                <a:latin typeface="Calibri" pitchFamily="34" charset="0"/>
                <a:ea typeface="Calibri" pitchFamily="34" charset="-122"/>
                <a:cs typeface="Calibri" pitchFamily="34" charset="-120"/>
              </a:rPr>
              <a:t>Yes / No for calories and budget</a:t>
            </a:r>
            <a:endParaRPr lang="en-US" sz="1900" dirty="0"/>
          </a:p>
        </p:txBody>
      </p:sp>
      <p:sp>
        <p:nvSpPr>
          <p:cNvPr id="14" name="View SQL panel"/>
          <p:cNvSpPr/>
          <p:nvPr/>
        </p:nvSpPr>
        <p:spPr>
          <a:xfrm>
            <a:off x="5486400" y="1325880"/>
            <a:ext cx="6156655" cy="3291840"/>
          </a:xfrm>
          <a:prstGeom prst="roundRect">
            <a:avLst>
              <a:gd name="adj" fmla="val 3889"/>
            </a:avLst>
          </a:prstGeom>
          <a:solidFill>
            <a:schemeClr val="tx1"/>
          </a:solidFill>
          <a:ln/>
        </p:spPr>
        <p:txBody>
          <a:bodyPr/>
          <a:lstStyle/>
          <a:p>
            <a:endParaRPr lang="en-US"/>
          </a:p>
        </p:txBody>
      </p:sp>
      <p:sp>
        <p:nvSpPr>
          <p:cNvPr id="15" name="View SQL"/>
          <p:cNvSpPr txBox="1"/>
          <p:nvPr/>
        </p:nvSpPr>
        <p:spPr>
          <a:xfrm>
            <a:off x="5669280" y="1399032"/>
            <a:ext cx="5790895" cy="3145536"/>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CREATE VIEW Bowl_Summary AS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SELECT b.bowl_id, c.name AS customer,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 AS total_calories, ... AS total_cost,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CASE WHEN ... &lt;= c.calorie_limit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THEN 'Yes' ELSE 'No' END AS within_calories,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CASE WHEN ... &lt;= c.budget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THEN 'Yes' ELSE 'No' END AS within_budget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FROM  Bowl b JOIN Customer c ON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JOIN (flavour totals per bowl) f ON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LEFT JOIN (topping totals per bowl) t ON ...;</a:t>
            </a:r>
            <a:endParaRPr lang="en-US" sz="1300" dirty="0"/>
          </a:p>
        </p:txBody>
      </p:sp>
      <p:sp>
        <p:nvSpPr>
          <p:cNvPr id="16" name="Text 14"/>
          <p:cNvSpPr txBox="1"/>
          <p:nvPr/>
        </p:nvSpPr>
        <p:spPr>
          <a:xfrm>
            <a:off x="5486400" y="4709160"/>
            <a:ext cx="6126480" cy="274320"/>
          </a:xfrm>
          <a:prstGeom prst="rect">
            <a:avLst/>
          </a:prstGeom>
          <a:noFill/>
          <a:ln/>
        </p:spPr>
        <p:txBody>
          <a:bodyPr wrap="square" lIns="0" tIns="0" rIns="0" bIns="0" rtlCol="0" anchor="ctr"/>
          <a:lstStyle/>
          <a:p>
            <a:pPr marL="0" indent="0">
              <a:buNone/>
            </a:pPr>
            <a:r>
              <a:rPr lang="en-US" sz="1100" i="1" dirty="0">
                <a:solidFill>
                  <a:schemeClr val="accent5"/>
                </a:solidFill>
                <a:latin typeface="Calibri" pitchFamily="34" charset="0"/>
                <a:ea typeface="Calibri" pitchFamily="34" charset="-122"/>
                <a:cs typeface="Calibri" pitchFamily="34" charset="-120"/>
              </a:rPr>
              <a:t>Shortened - full SQL is in the script.</a:t>
            </a:r>
            <a:endParaRPr lang="en-US" sz="1100" dirty="0"/>
          </a:p>
        </p:txBody>
      </p:sp>
      <p:pic>
        <p:nvPicPr>
          <p:cNvPr id="17" name="Image 0" descr="A Yo-Chi bowl with pastel frozen yogurt and toppings"/>
          <p:cNvPicPr>
            <a:picLocks noChangeAspect="1"/>
          </p:cNvPicPr>
          <p:nvPr/>
        </p:nvPicPr>
        <p:blipFill>
          <a:blip r:embed="rId3"/>
          <a:stretch>
            <a:fillRect/>
          </a:stretch>
        </p:blipFill>
        <p:spPr>
          <a:xfrm>
            <a:off x="1417320" y="5074920"/>
            <a:ext cx="1463040" cy="121920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The view in use</a:t>
            </a:r>
            <a:endParaRPr lang="en-US" sz="2800" dirty="0"/>
          </a:p>
        </p:txBody>
      </p:sp>
      <p:sp>
        <p:nvSpPr>
          <p:cNvPr id="3" name="Pill"/>
          <p:cNvSpPr/>
          <p:nvPr/>
        </p:nvSpPr>
        <p:spPr>
          <a:xfrm>
            <a:off x="9128455" y="411480"/>
            <a:ext cx="2514600" cy="438912"/>
          </a:xfrm>
          <a:prstGeom prst="roundRect">
            <a:avLst>
              <a:gd name="adj" fmla="val 50000"/>
            </a:avLst>
          </a:prstGeom>
          <a:solidFill>
            <a:srgbClr val="F2A7BB"/>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SELECT from view</a:t>
            </a:r>
            <a:endParaRPr lang="en-US" sz="1300" dirty="0"/>
          </a:p>
        </p:txBody>
      </p:sp>
      <p:sp>
        <p:nvSpPr>
          <p:cNvPr id="5" name="Text 3"/>
          <p:cNvSpPr txBox="1"/>
          <p:nvPr/>
        </p:nvSpPr>
        <p:spPr>
          <a:xfrm>
            <a:off x="548640" y="1051560"/>
            <a:ext cx="8229600" cy="27432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Every bowl: totals and whether it fits</a:t>
            </a:r>
            <a:endParaRPr lang="en-US" sz="1500" dirty="0"/>
          </a:p>
        </p:txBody>
      </p:sp>
      <p:sp>
        <p:nvSpPr>
          <p:cNvPr id="6" name="SQL panel"/>
          <p:cNvSpPr/>
          <p:nvPr/>
        </p:nvSpPr>
        <p:spPr>
          <a:xfrm>
            <a:off x="548640" y="1362456"/>
            <a:ext cx="11094415" cy="654939"/>
          </a:xfrm>
          <a:prstGeom prst="roundRect">
            <a:avLst>
              <a:gd name="adj" fmla="val 19546"/>
            </a:avLst>
          </a:prstGeom>
          <a:solidFill>
            <a:schemeClr val="tx1"/>
          </a:solidFill>
          <a:ln/>
        </p:spPr>
        <p:txBody>
          <a:bodyPr/>
          <a:lstStyle/>
          <a:p>
            <a:endParaRPr lang="en-US"/>
          </a:p>
        </p:txBody>
      </p:sp>
      <p:sp>
        <p:nvSpPr>
          <p:cNvPr id="7" name="SQL"/>
          <p:cNvSpPr txBox="1"/>
          <p:nvPr/>
        </p:nvSpPr>
        <p:spPr>
          <a:xfrm>
            <a:off x="731520" y="1435608"/>
            <a:ext cx="10728655" cy="508635"/>
          </a:xfrm>
          <a:prstGeom prst="rect">
            <a:avLst/>
          </a:prstGeom>
          <a:noFill/>
          <a:ln/>
        </p:spPr>
        <p:txBody>
          <a:bodyPr wrap="square" lIns="0" tIns="0" rIns="0" bIns="0" rtlCol="0" anchor="t"/>
          <a:lstStyle/>
          <a:p>
            <a:pPr marL="0" indent="0">
              <a:buNone/>
            </a:pPr>
            <a:r>
              <a:rPr lang="en-US" sz="1050" dirty="0">
                <a:solidFill>
                  <a:schemeClr val="bg1"/>
                </a:solidFill>
                <a:latin typeface="Courier New" pitchFamily="34" charset="0"/>
                <a:ea typeface="Courier New" pitchFamily="34" charset="-122"/>
                <a:cs typeface="Courier New" pitchFamily="34" charset="-120"/>
              </a:rPr>
              <a:t>SELECT bowl_id, customer, total_calories, total_cost, within_calories, within_budget</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FROM Bowl_Summary</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ORDER BY bowl_id;</a:t>
            </a:r>
            <a:endParaRPr lang="en-US" sz="1050" dirty="0"/>
          </a:p>
        </p:txBody>
      </p:sp>
      <p:sp>
        <p:nvSpPr>
          <p:cNvPr id="8" name="Output panel"/>
          <p:cNvSpPr/>
          <p:nvPr/>
        </p:nvSpPr>
        <p:spPr>
          <a:xfrm>
            <a:off x="548640" y="2090547"/>
            <a:ext cx="11094415" cy="1599057"/>
          </a:xfrm>
          <a:prstGeom prst="roundRect">
            <a:avLst>
              <a:gd name="adj" fmla="val 8006"/>
            </a:avLst>
          </a:prstGeom>
          <a:solidFill>
            <a:srgbClr val="FDEBF0"/>
          </a:solidFill>
          <a:ln/>
        </p:spPr>
        <p:txBody>
          <a:bodyPr/>
          <a:lstStyle/>
          <a:p>
            <a:endParaRPr lang="en-US"/>
          </a:p>
        </p:txBody>
      </p:sp>
      <p:sp>
        <p:nvSpPr>
          <p:cNvPr id="9" name="Output"/>
          <p:cNvSpPr txBox="1"/>
          <p:nvPr/>
        </p:nvSpPr>
        <p:spPr>
          <a:xfrm>
            <a:off x="731520" y="2163699"/>
            <a:ext cx="10728655" cy="1452753"/>
          </a:xfrm>
          <a:prstGeom prst="rect">
            <a:avLst/>
          </a:prstGeom>
          <a:noFill/>
          <a:ln/>
        </p:spPr>
        <p:txBody>
          <a:bodyPr wrap="square" lIns="0" tIns="0" rIns="0" bIns="0" rtlCol="0" anchor="t"/>
          <a:lstStyle/>
          <a:p>
            <a:pPr marL="0" indent="0">
              <a:buNone/>
            </a:pPr>
            <a:r>
              <a:rPr lang="en-US" sz="1050" dirty="0">
                <a:solidFill>
                  <a:schemeClr val="tx1"/>
                </a:solidFill>
                <a:latin typeface="Courier New" pitchFamily="34" charset="0"/>
                <a:ea typeface="Courier New" pitchFamily="34" charset="-122"/>
                <a:cs typeface="Courier New" pitchFamily="34" charset="-120"/>
              </a:rPr>
              <a:t> bowl_id |  customer  | total_calories | total_cost | within_calories | within_budget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101 | Mia Chen   |          333.7 |      12.99 | Yes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102 | Mia Chen   |          587.8 |      11.88 | No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103 | Mia Chen   |          291.9 |      10.70 | Yes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104 | Liam Patel |          952.1 |      18.15 | No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105 | Liam Patel |          587.5 |      13.56 | Yes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106 | Zara Ahmed |          272.8 |       8.58 | Yes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(6 rows)</a:t>
            </a:r>
            <a:endParaRPr lang="en-US" sz="1050" dirty="0"/>
          </a:p>
        </p:txBody>
      </p:sp>
      <p:sp>
        <p:nvSpPr>
          <p:cNvPr id="10" name="Text 8"/>
          <p:cNvSpPr txBox="1"/>
          <p:nvPr/>
        </p:nvSpPr>
        <p:spPr>
          <a:xfrm>
            <a:off x="548640" y="3854196"/>
            <a:ext cx="8229600" cy="27432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Bowls within BOTH limits</a:t>
            </a:r>
            <a:endParaRPr lang="en-US" sz="1500" dirty="0"/>
          </a:p>
        </p:txBody>
      </p:sp>
      <p:sp>
        <p:nvSpPr>
          <p:cNvPr id="11" name="SQL panel"/>
          <p:cNvSpPr/>
          <p:nvPr/>
        </p:nvSpPr>
        <p:spPr>
          <a:xfrm>
            <a:off x="548640" y="4165092"/>
            <a:ext cx="11094415" cy="812292"/>
          </a:xfrm>
          <a:prstGeom prst="roundRect">
            <a:avLst>
              <a:gd name="adj" fmla="val 15760"/>
            </a:avLst>
          </a:prstGeom>
          <a:solidFill>
            <a:schemeClr val="tx1"/>
          </a:solidFill>
          <a:ln/>
        </p:spPr>
        <p:txBody>
          <a:bodyPr/>
          <a:lstStyle/>
          <a:p>
            <a:endParaRPr lang="en-US"/>
          </a:p>
        </p:txBody>
      </p:sp>
      <p:sp>
        <p:nvSpPr>
          <p:cNvPr id="12" name="SQL"/>
          <p:cNvSpPr txBox="1"/>
          <p:nvPr/>
        </p:nvSpPr>
        <p:spPr>
          <a:xfrm>
            <a:off x="731520" y="4238244"/>
            <a:ext cx="10728655" cy="665988"/>
          </a:xfrm>
          <a:prstGeom prst="rect">
            <a:avLst/>
          </a:prstGeom>
          <a:noFill/>
          <a:ln/>
        </p:spPr>
        <p:txBody>
          <a:bodyPr wrap="square" lIns="0" tIns="0" rIns="0" bIns="0" rtlCol="0" anchor="t"/>
          <a:lstStyle/>
          <a:p>
            <a:pPr marL="0" indent="0">
              <a:buNone/>
            </a:pPr>
            <a:r>
              <a:rPr lang="en-US" sz="1050" dirty="0">
                <a:solidFill>
                  <a:schemeClr val="bg1"/>
                </a:solidFill>
                <a:latin typeface="Courier New" pitchFamily="34" charset="0"/>
                <a:ea typeface="Courier New" pitchFamily="34" charset="-122"/>
                <a:cs typeface="Courier New" pitchFamily="34" charset="-120"/>
              </a:rPr>
              <a:t>SELECT bowl_id, customer, total_calories, total_cost</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FROM Bowl_Summary</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WHERE within_calories = 'Yes' AND within_budget = 'Yes'</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ORDER BY bowl_id;</a:t>
            </a:r>
            <a:endParaRPr lang="en-US" sz="1050" dirty="0"/>
          </a:p>
        </p:txBody>
      </p:sp>
      <p:sp>
        <p:nvSpPr>
          <p:cNvPr id="13" name="Output panel"/>
          <p:cNvSpPr/>
          <p:nvPr/>
        </p:nvSpPr>
        <p:spPr>
          <a:xfrm>
            <a:off x="548640" y="5050536"/>
            <a:ext cx="11094415" cy="1126998"/>
          </a:xfrm>
          <a:prstGeom prst="roundRect">
            <a:avLst>
              <a:gd name="adj" fmla="val 11359"/>
            </a:avLst>
          </a:prstGeom>
          <a:solidFill>
            <a:srgbClr val="FDEBF0"/>
          </a:solidFill>
          <a:ln/>
        </p:spPr>
        <p:txBody>
          <a:bodyPr/>
          <a:lstStyle/>
          <a:p>
            <a:endParaRPr lang="en-US"/>
          </a:p>
        </p:txBody>
      </p:sp>
      <p:sp>
        <p:nvSpPr>
          <p:cNvPr id="14" name="Output"/>
          <p:cNvSpPr txBox="1"/>
          <p:nvPr/>
        </p:nvSpPr>
        <p:spPr>
          <a:xfrm>
            <a:off x="731520" y="5123688"/>
            <a:ext cx="10728655" cy="980694"/>
          </a:xfrm>
          <a:prstGeom prst="rect">
            <a:avLst/>
          </a:prstGeom>
          <a:noFill/>
          <a:ln/>
        </p:spPr>
        <p:txBody>
          <a:bodyPr wrap="square" lIns="0" tIns="0" rIns="0" bIns="0" rtlCol="0" anchor="t"/>
          <a:lstStyle/>
          <a:p>
            <a:pPr marL="0" indent="0">
              <a:buNone/>
            </a:pPr>
            <a:r>
              <a:rPr lang="en-US" sz="1050" dirty="0">
                <a:solidFill>
                  <a:schemeClr val="tx1"/>
                </a:solidFill>
                <a:latin typeface="Courier New" pitchFamily="34" charset="0"/>
                <a:ea typeface="Courier New" pitchFamily="34" charset="-122"/>
                <a:cs typeface="Courier New" pitchFamily="34" charset="-120"/>
              </a:rPr>
              <a:t> bowl_id |  customer  | total_calories | total_cost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103 | Mia Chen   |          291.9 |      10.70</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105 | Liam Patel |          587.5 |      13.56</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106 | Zara Ahmed |          272.8 |       8.58</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(3 rows)</a:t>
            </a:r>
            <a:endParaRPr lang="en-US" sz="10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Chocolate bowl under $20?</a:t>
            </a:r>
            <a:endParaRPr lang="en-US" sz="2800" dirty="0"/>
          </a:p>
        </p:txBody>
      </p:sp>
      <p:sp>
        <p:nvSpPr>
          <p:cNvPr id="3" name="Pill"/>
          <p:cNvSpPr/>
          <p:nvPr/>
        </p:nvSpPr>
        <p:spPr>
          <a:xfrm>
            <a:off x="9128455" y="411480"/>
            <a:ext cx="2514600" cy="438912"/>
          </a:xfrm>
          <a:prstGeom prst="roundRect">
            <a:avLst>
              <a:gd name="adj" fmla="val 50000"/>
            </a:avLst>
          </a:prstGeom>
          <a:solidFill>
            <a:srgbClr val="F5D04C"/>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Bonus: plan a bowl</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350g Choccy + 50g fruit + 50g chocolate topping: what does it cost?</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599057"/>
          </a:xfrm>
          <a:prstGeom prst="roundRect">
            <a:avLst>
              <a:gd name="adj" fmla="val 8006"/>
            </a:avLst>
          </a:prstGeom>
          <a:solidFill>
            <a:schemeClr val="tx1"/>
          </a:solidFill>
          <a:ln/>
        </p:spPr>
        <p:txBody>
          <a:bodyPr/>
          <a:lstStyle/>
          <a:p>
            <a:endParaRPr lang="en-US"/>
          </a:p>
        </p:txBody>
      </p:sp>
      <p:sp>
        <p:nvSpPr>
          <p:cNvPr id="8" name="SQL"/>
          <p:cNvSpPr txBox="1"/>
          <p:nvPr/>
        </p:nvSpPr>
        <p:spPr>
          <a:xfrm>
            <a:off x="731520" y="1865376"/>
            <a:ext cx="10728655" cy="1452753"/>
          </a:xfrm>
          <a:prstGeom prst="rect">
            <a:avLst/>
          </a:prstGeom>
          <a:noFill/>
          <a:ln/>
        </p:spPr>
        <p:txBody>
          <a:bodyPr wrap="square" lIns="0" tIns="0" rIns="0" bIns="0" rtlCol="0" anchor="t"/>
          <a:lstStyle/>
          <a:p>
            <a:pPr marL="0" indent="0">
              <a:buNone/>
            </a:pPr>
            <a:r>
              <a:rPr lang="en-US" sz="1050" dirty="0">
                <a:solidFill>
                  <a:schemeClr val="bg1"/>
                </a:solidFill>
                <a:latin typeface="Courier New" pitchFamily="34" charset="0"/>
                <a:ea typeface="Courier New" pitchFamily="34" charset="-122"/>
                <a:cs typeface="Courier New" pitchFamily="34" charset="-120"/>
              </a:rPr>
              <a:t>SELECT t1.name AS fruit, t2.name AS chocolate_topping,</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ROUND((350*f.price + 50*t1.price + 50*t2.price)/100.0, 2) AS total_cost,</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CASE WHEN (350*f.price + 50*t1.price + 50*t2.price)/100.0 &lt; 20</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THEN 'Yes' ELSE 'No' END AS under_20</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FROM Flavour f, Topping t1, Topping t2</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WHERE f.name = 'Choccy (VF)'</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AND t1.category_id = 1</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AND t2.name IN ('Oreos', 'Chocolate Fudge Brownie', 'Nutella (Warm)', 'Biscoff Spread')</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ORDER BY total_cost;</a:t>
            </a:r>
            <a:endParaRPr lang="en-US" sz="1050" dirty="0"/>
          </a:p>
        </p:txBody>
      </p:sp>
      <p:sp>
        <p:nvSpPr>
          <p:cNvPr id="9" name="Text 7"/>
          <p:cNvSpPr txBox="1"/>
          <p:nvPr/>
        </p:nvSpPr>
        <p:spPr>
          <a:xfrm>
            <a:off x="548640" y="3528441"/>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784473"/>
            <a:ext cx="7589520" cy="2543175"/>
          </a:xfrm>
          <a:prstGeom prst="roundRect">
            <a:avLst>
              <a:gd name="adj" fmla="val 5034"/>
            </a:avLst>
          </a:prstGeom>
          <a:solidFill>
            <a:srgbClr val="FFF6D8"/>
          </a:solidFill>
          <a:ln/>
        </p:spPr>
        <p:txBody>
          <a:bodyPr/>
          <a:lstStyle/>
          <a:p>
            <a:endParaRPr lang="en-US"/>
          </a:p>
        </p:txBody>
      </p:sp>
      <p:sp>
        <p:nvSpPr>
          <p:cNvPr id="11" name="Output"/>
          <p:cNvSpPr txBox="1"/>
          <p:nvPr/>
        </p:nvSpPr>
        <p:spPr>
          <a:xfrm>
            <a:off x="731520" y="3857625"/>
            <a:ext cx="7223760" cy="2396871"/>
          </a:xfrm>
          <a:prstGeom prst="rect">
            <a:avLst/>
          </a:prstGeom>
          <a:noFill/>
          <a:ln/>
        </p:spPr>
        <p:txBody>
          <a:bodyPr wrap="square" lIns="0" tIns="0" rIns="0" bIns="0" rtlCol="0" anchor="t"/>
          <a:lstStyle/>
          <a:p>
            <a:pPr marL="0" indent="0">
              <a:buNone/>
            </a:pPr>
            <a:r>
              <a:rPr lang="en-US" sz="1050" dirty="0">
                <a:solidFill>
                  <a:schemeClr val="tx1"/>
                </a:solidFill>
                <a:latin typeface="Courier New" pitchFamily="34" charset="0"/>
                <a:ea typeface="Courier New" pitchFamily="34" charset="-122"/>
                <a:cs typeface="Courier New" pitchFamily="34" charset="-120"/>
              </a:rPr>
              <a:t>       fruit       |    chocolate_topping    | total_cost | under_20</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Strawberries      | Nutella (Warm)          |      19.80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Mango       | Nutella (Warm)          |      19.85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Strawberries      | Oreos                   |      19.90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Strawberries      | Biscoff Spread          |      19.90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Mango       | Biscoff Spread          |      19.95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Mango       | Oreos                   |      19.95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Blueberries | Nutella (Warm)          |      19.95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Strawberries      | Chocolate Fudge Brownie |      19.95 | Yes</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Mango       | Chocolate Fudge Brownie |      20.00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Blueberries | Oreos                   |      20.05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Blueberries | Biscoff Spread          |      20.05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Fresh Blueberries | Chocolate Fudge Brownie |      20.10 | No</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(12 rows)</a:t>
            </a:r>
            <a:endParaRPr lang="en-US" sz="1050" dirty="0"/>
          </a:p>
        </p:txBody>
      </p:sp>
      <p:pic>
        <p:nvPicPr>
          <p:cNvPr id="12" name="Image 0" descr="A Yo-Chi bowl topped with brownie and warm Nutella"/>
          <p:cNvPicPr>
            <a:picLocks noChangeAspect="1"/>
          </p:cNvPicPr>
          <p:nvPr/>
        </p:nvPicPr>
        <p:blipFill>
          <a:blip r:embed="rId3"/>
          <a:stretch>
            <a:fillRect/>
          </a:stretch>
        </p:blipFill>
        <p:spPr>
          <a:xfrm>
            <a:off x="8941918" y="3784473"/>
            <a:ext cx="2171700" cy="1737360"/>
          </a:xfrm>
          <a:prstGeom prst="rect">
            <a:avLst/>
          </a:prstGeom>
        </p:spPr>
      </p:pic>
      <p:sp>
        <p:nvSpPr>
          <p:cNvPr id="13" name="Text 10"/>
          <p:cNvSpPr txBox="1"/>
          <p:nvPr/>
        </p:nvSpPr>
        <p:spPr>
          <a:xfrm>
            <a:off x="8412480" y="5631561"/>
            <a:ext cx="3230575" cy="548640"/>
          </a:xfrm>
          <a:prstGeom prst="rect">
            <a:avLst/>
          </a:prstGeom>
          <a:noFill/>
          <a:ln/>
        </p:spPr>
        <p:txBody>
          <a:bodyPr wrap="square" lIns="0" tIns="0" rIns="0" bIns="0" rtlCol="0" anchor="t"/>
          <a:lstStyle/>
          <a:p>
            <a:pPr marL="0" indent="0" algn="ctr">
              <a:buNone/>
            </a:pPr>
            <a:r>
              <a:rPr lang="en-US" sz="1400" b="1" dirty="0">
                <a:solidFill>
                  <a:schemeClr val="tx1"/>
                </a:solidFill>
                <a:latin typeface="Calibri" pitchFamily="34" charset="0"/>
                <a:ea typeface="Calibri" pitchFamily="34" charset="-122"/>
                <a:cs typeface="Calibri" pitchFamily="34" charset="-120"/>
              </a:rPr>
              <a:t>Strawberries keep every combo under $20.</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Under 200 calories?</a:t>
            </a:r>
            <a:endParaRPr lang="en-US" sz="2800" dirty="0"/>
          </a:p>
        </p:txBody>
      </p:sp>
      <p:sp>
        <p:nvSpPr>
          <p:cNvPr id="3" name="Pill"/>
          <p:cNvSpPr/>
          <p:nvPr/>
        </p:nvSpPr>
        <p:spPr>
          <a:xfrm>
            <a:off x="9128455" y="411480"/>
            <a:ext cx="2514600" cy="438912"/>
          </a:xfrm>
          <a:prstGeom prst="roundRect">
            <a:avLst>
              <a:gd name="adj" fmla="val 50000"/>
            </a:avLst>
          </a:prstGeom>
          <a:solidFill>
            <a:srgbClr val="F5D04C"/>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Bonus: plan a bowl</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150g of yogurt + 30g of one topping: which combos are under 200 kcal?</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443228"/>
          </a:xfrm>
          <a:prstGeom prst="roundRect">
            <a:avLst>
              <a:gd name="adj" fmla="val 8870"/>
            </a:avLst>
          </a:prstGeom>
          <a:solidFill>
            <a:schemeClr val="tx1"/>
          </a:solidFill>
          <a:ln/>
        </p:spPr>
        <p:txBody>
          <a:bodyPr/>
          <a:lstStyle/>
          <a:p>
            <a:endParaRPr lang="en-US"/>
          </a:p>
        </p:txBody>
      </p:sp>
      <p:sp>
        <p:nvSpPr>
          <p:cNvPr id="8" name="SQL"/>
          <p:cNvSpPr txBox="1"/>
          <p:nvPr/>
        </p:nvSpPr>
        <p:spPr>
          <a:xfrm>
            <a:off x="731520" y="1865376"/>
            <a:ext cx="10728655" cy="1296924"/>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SELECT f.name AS flavour, t.name AS topping,</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ROUND((150*f.calories + 30*t.calories)/100.0, 1) AS calories,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ROUND((150*f.price + 30*t.price)/100.0, 2) AS cost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FROM Flavour f, Topping 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WHERE (150*f.calories + 30*t.calories)/100.0 &lt; 200</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ORDER BY calories;</a:t>
            </a:r>
            <a:endParaRPr lang="en-US" sz="1300" dirty="0"/>
          </a:p>
        </p:txBody>
      </p:sp>
      <p:sp>
        <p:nvSpPr>
          <p:cNvPr id="9" name="Text 7"/>
          <p:cNvSpPr txBox="1"/>
          <p:nvPr/>
        </p:nvSpPr>
        <p:spPr>
          <a:xfrm>
            <a:off x="548640" y="337261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628644"/>
            <a:ext cx="7589520" cy="2222500"/>
          </a:xfrm>
          <a:prstGeom prst="roundRect">
            <a:avLst>
              <a:gd name="adj" fmla="val 5760"/>
            </a:avLst>
          </a:prstGeom>
          <a:solidFill>
            <a:srgbClr val="FFF6D8"/>
          </a:solidFill>
          <a:ln/>
        </p:spPr>
        <p:txBody>
          <a:bodyPr/>
          <a:lstStyle/>
          <a:p>
            <a:endParaRPr lang="en-US"/>
          </a:p>
        </p:txBody>
      </p:sp>
      <p:sp>
        <p:nvSpPr>
          <p:cNvPr id="11" name="Output"/>
          <p:cNvSpPr txBox="1"/>
          <p:nvPr/>
        </p:nvSpPr>
        <p:spPr>
          <a:xfrm>
            <a:off x="731520" y="3701796"/>
            <a:ext cx="7223760" cy="2076196"/>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    flavour     |      topping      | calories | cost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Ube            | Strawberries      |    186.9 | 7.65</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Ube            | Fresh Blueberries |    189.0 | 7.74</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Vanilla        | Strawberries      |    194.4 | 7.20</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Ube            | Fresh Mango       |    195.0 | 7.68</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Signature Tart | Strawberries      |    195.9 | 7.20</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Vanilla        | Fresh Blueberries |    196.5 | 7.29</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Signature Tart | Fresh Blueberries |    198.0 | 7.29</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(7 rows)</a:t>
            </a:r>
            <a:endParaRPr lang="en-US" sz="1300" dirty="0"/>
          </a:p>
        </p:txBody>
      </p:sp>
      <p:pic>
        <p:nvPicPr>
          <p:cNvPr id="12" name="Image 0" descr="Yo-Chi bowls topped with strawberries and fruit"/>
          <p:cNvPicPr>
            <a:picLocks noChangeAspect="1"/>
          </p:cNvPicPr>
          <p:nvPr/>
        </p:nvPicPr>
        <p:blipFill>
          <a:blip r:embed="rId3"/>
          <a:stretch>
            <a:fillRect/>
          </a:stretch>
        </p:blipFill>
        <p:spPr>
          <a:xfrm>
            <a:off x="8877787" y="3628644"/>
            <a:ext cx="2299962" cy="1536700"/>
          </a:xfrm>
          <a:prstGeom prst="rect">
            <a:avLst/>
          </a:prstGeom>
        </p:spPr>
      </p:pic>
      <p:sp>
        <p:nvSpPr>
          <p:cNvPr id="13" name="Text 10"/>
          <p:cNvSpPr txBox="1"/>
          <p:nvPr/>
        </p:nvSpPr>
        <p:spPr>
          <a:xfrm>
            <a:off x="8412480" y="5275072"/>
            <a:ext cx="3230575" cy="548640"/>
          </a:xfrm>
          <a:prstGeom prst="rect">
            <a:avLst/>
          </a:prstGeom>
          <a:noFill/>
          <a:ln/>
        </p:spPr>
        <p:txBody>
          <a:bodyPr wrap="square" lIns="0" tIns="0" rIns="0" bIns="0" rtlCol="0" anchor="t"/>
          <a:lstStyle/>
          <a:p>
            <a:pPr marL="0" indent="0" algn="ctr">
              <a:buNone/>
            </a:pPr>
            <a:r>
              <a:rPr lang="en-US" sz="1400" b="1" dirty="0">
                <a:solidFill>
                  <a:schemeClr val="tx1"/>
                </a:solidFill>
                <a:latin typeface="Calibri" pitchFamily="34" charset="0"/>
                <a:ea typeface="Calibri" pitchFamily="34" charset="-122"/>
                <a:cs typeface="Calibri" pitchFamily="34" charset="-120"/>
              </a:rPr>
              <a:t>Only fruit toppings make the cut.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859536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Treat bowls: 200-300 kcal, under $12</a:t>
            </a:r>
            <a:endParaRPr lang="en-US" sz="2800" dirty="0"/>
          </a:p>
        </p:txBody>
      </p:sp>
      <p:sp>
        <p:nvSpPr>
          <p:cNvPr id="3" name="Pill"/>
          <p:cNvSpPr/>
          <p:nvPr/>
        </p:nvSpPr>
        <p:spPr>
          <a:xfrm>
            <a:off x="9128455" y="411480"/>
            <a:ext cx="2514600" cy="438912"/>
          </a:xfrm>
          <a:prstGeom prst="roundRect">
            <a:avLst>
              <a:gd name="adj" fmla="val 50000"/>
            </a:avLst>
          </a:prstGeom>
          <a:solidFill>
            <a:srgbClr val="F5D04C"/>
          </a:solidFill>
          <a:ln/>
        </p:spPr>
        <p:txBody>
          <a:bodyPr/>
          <a:lstStyle/>
          <a:p>
            <a:endParaRPr lang="en-US"/>
          </a:p>
        </p:txBody>
      </p:sp>
      <p:sp>
        <p:nvSpPr>
          <p:cNvPr id="4" name="Pill text"/>
          <p:cNvSpPr txBox="1"/>
          <p:nvPr/>
        </p:nvSpPr>
        <p:spPr>
          <a:xfrm>
            <a:off x="9128455" y="411480"/>
            <a:ext cx="2514600" cy="43891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Bonus: plan a bowl</a:t>
            </a:r>
            <a:endParaRPr lang="en-US" sz="1300" dirty="0"/>
          </a:p>
        </p:txBody>
      </p:sp>
      <p:sp>
        <p:nvSpPr>
          <p:cNvPr id="5" name="Question"/>
          <p:cNvSpPr txBox="1"/>
          <p:nvPr/>
        </p:nvSpPr>
        <p:spPr>
          <a:xfrm>
            <a:off x="548640" y="1033272"/>
            <a:ext cx="11094415" cy="36576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150g of yogurt + 25g of a Sweet Treat: what fits?</a:t>
            </a:r>
            <a:endParaRPr lang="en-US" sz="1700" dirty="0"/>
          </a:p>
        </p:txBody>
      </p:sp>
      <p:sp>
        <p:nvSpPr>
          <p:cNvPr id="6" name="Text 4"/>
          <p:cNvSpPr txBox="1"/>
          <p:nvPr/>
        </p:nvSpPr>
        <p:spPr>
          <a:xfrm>
            <a:off x="548640" y="1536192"/>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SQL</a:t>
            </a:r>
            <a:endParaRPr lang="en-US" sz="1100" dirty="0"/>
          </a:p>
        </p:txBody>
      </p:sp>
      <p:sp>
        <p:nvSpPr>
          <p:cNvPr id="7" name="SQL panel"/>
          <p:cNvSpPr/>
          <p:nvPr/>
        </p:nvSpPr>
        <p:spPr>
          <a:xfrm>
            <a:off x="548640" y="1792224"/>
            <a:ext cx="11094415" cy="1599057"/>
          </a:xfrm>
          <a:prstGeom prst="roundRect">
            <a:avLst>
              <a:gd name="adj" fmla="val 8006"/>
            </a:avLst>
          </a:prstGeom>
          <a:solidFill>
            <a:schemeClr val="tx1"/>
          </a:solidFill>
          <a:ln/>
        </p:spPr>
        <p:txBody>
          <a:bodyPr/>
          <a:lstStyle/>
          <a:p>
            <a:endParaRPr lang="en-US"/>
          </a:p>
        </p:txBody>
      </p:sp>
      <p:sp>
        <p:nvSpPr>
          <p:cNvPr id="8" name="SQL"/>
          <p:cNvSpPr txBox="1"/>
          <p:nvPr/>
        </p:nvSpPr>
        <p:spPr>
          <a:xfrm>
            <a:off x="731520" y="1865376"/>
            <a:ext cx="10728655" cy="1452753"/>
          </a:xfrm>
          <a:prstGeom prst="rect">
            <a:avLst/>
          </a:prstGeom>
          <a:noFill/>
          <a:ln/>
        </p:spPr>
        <p:txBody>
          <a:bodyPr wrap="square" lIns="0" tIns="0" rIns="0" bIns="0" rtlCol="0" anchor="t"/>
          <a:lstStyle/>
          <a:p>
            <a:pPr marL="0" indent="0">
              <a:buNone/>
            </a:pPr>
            <a:r>
              <a:rPr lang="en-US" sz="1050" dirty="0">
                <a:solidFill>
                  <a:schemeClr val="bg1"/>
                </a:solidFill>
                <a:latin typeface="Courier New" pitchFamily="34" charset="0"/>
                <a:ea typeface="Courier New" pitchFamily="34" charset="-122"/>
                <a:cs typeface="Courier New" pitchFamily="34" charset="-120"/>
              </a:rPr>
              <a:t>SELECT f.name AS flavour, t.name AS topping,</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ROUND((150*f.calories + 25*t.calories)/100.0, 1) AS calories,</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ROUND((150*f.price + 25*t.price)/100.0, 2) AS cost</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FROM Flavour f, Topping t, Category c</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WHERE t.category_id = c.category_id</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AND c.category_name = 'Sweet Treats'</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AND (150*f.calories + 25*t.calories)/100.0 BETWEEN 200 AND 300</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AND (150*f.price + 25*t.price)/100.0 &lt; 12</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ORDER BY calories;</a:t>
            </a:r>
            <a:endParaRPr lang="en-US" sz="1050" dirty="0"/>
          </a:p>
        </p:txBody>
      </p:sp>
      <p:sp>
        <p:nvSpPr>
          <p:cNvPr id="9" name="Text 7"/>
          <p:cNvSpPr txBox="1"/>
          <p:nvPr/>
        </p:nvSpPr>
        <p:spPr>
          <a:xfrm>
            <a:off x="548640" y="3528441"/>
            <a:ext cx="2743200" cy="237744"/>
          </a:xfrm>
          <a:prstGeom prst="rect">
            <a:avLst/>
          </a:prstGeom>
          <a:noFill/>
          <a:ln/>
        </p:spPr>
        <p:txBody>
          <a:bodyPr wrap="square" lIns="0" tIns="0" rIns="0" bIns="0" rtlCol="0" anchor="ctr"/>
          <a:lstStyle/>
          <a:p>
            <a:pPr marL="0" indent="0">
              <a:buNone/>
            </a:pPr>
            <a:r>
              <a:rPr lang="en-US" sz="1100" b="1" kern="0" spc="150" dirty="0">
                <a:solidFill>
                  <a:schemeClr val="accent5"/>
                </a:solidFill>
                <a:latin typeface="Calibri" pitchFamily="34" charset="0"/>
                <a:ea typeface="Calibri" pitchFamily="34" charset="-122"/>
                <a:cs typeface="Calibri" pitchFamily="34" charset="-120"/>
              </a:rPr>
              <a:t>OUTPUT</a:t>
            </a:r>
            <a:endParaRPr lang="en-US" sz="1100" dirty="0"/>
          </a:p>
        </p:txBody>
      </p:sp>
      <p:sp>
        <p:nvSpPr>
          <p:cNvPr id="10" name="Output panel"/>
          <p:cNvSpPr/>
          <p:nvPr/>
        </p:nvSpPr>
        <p:spPr>
          <a:xfrm>
            <a:off x="548640" y="3784473"/>
            <a:ext cx="7589520" cy="2385822"/>
          </a:xfrm>
          <a:prstGeom prst="roundRect">
            <a:avLst>
              <a:gd name="adj" fmla="val 5366"/>
            </a:avLst>
          </a:prstGeom>
          <a:solidFill>
            <a:srgbClr val="FFF6D8"/>
          </a:solidFill>
          <a:ln/>
        </p:spPr>
        <p:txBody>
          <a:bodyPr/>
          <a:lstStyle/>
          <a:p>
            <a:endParaRPr lang="en-US"/>
          </a:p>
        </p:txBody>
      </p:sp>
      <p:sp>
        <p:nvSpPr>
          <p:cNvPr id="11" name="Output"/>
          <p:cNvSpPr txBox="1"/>
          <p:nvPr/>
        </p:nvSpPr>
        <p:spPr>
          <a:xfrm>
            <a:off x="731520" y="3857625"/>
            <a:ext cx="7223760" cy="2239518"/>
          </a:xfrm>
          <a:prstGeom prst="rect">
            <a:avLst/>
          </a:prstGeom>
          <a:noFill/>
          <a:ln/>
        </p:spPr>
        <p:txBody>
          <a:bodyPr wrap="square" lIns="0" tIns="0" rIns="0" bIns="0" rtlCol="0" anchor="t"/>
          <a:lstStyle/>
          <a:p>
            <a:pPr marL="0" indent="0">
              <a:buNone/>
            </a:pPr>
            <a:r>
              <a:rPr lang="en-US" sz="1050" dirty="0">
                <a:solidFill>
                  <a:schemeClr val="tx1"/>
                </a:solidFill>
                <a:latin typeface="Courier New" pitchFamily="34" charset="0"/>
                <a:ea typeface="Courier New" pitchFamily="34" charset="-122"/>
                <a:cs typeface="Courier New" pitchFamily="34" charset="-120"/>
              </a:rPr>
              <a:t>       flavour       |         topping         | calories | cost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Ube                 | Mini Mochi              |    264.8 | 7.68</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Vanilla             | Mini Mochi              |    272.3 | 7.23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Signature Tart      | Mini Mochi              |    273.8 | 7.23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Mango               | Mini Mochi              |    279.8 | 7.23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Matcha              | Mini Mochi              |    279.8 | 7.68</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Salted Butterscotch | Mini Mochi              |    282.8 | 7.53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Cookies &amp; Cream     | Mini Mochi              |    284.3 | 7.53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Ube                 | Chocolate Fudge Brownie |    288.8 | 7.63</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Vanilla             | Chocolate Fudge Brownie |    296.3 | 7.18</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Signature Tart      | Chocolate Fudge Brownie |    297.8 | 7.18</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 Ube                 | Oreos                   |    299.5 | 7.60</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(11 rows)</a:t>
            </a:r>
            <a:endParaRPr lang="en-US" sz="1050" dirty="0"/>
          </a:p>
        </p:txBody>
      </p:sp>
      <p:pic>
        <p:nvPicPr>
          <p:cNvPr id="12" name="Image 0" descr="A colourful Yo-Chi bowl with sprinkles and sweets"/>
          <p:cNvPicPr>
            <a:picLocks noChangeAspect="1"/>
          </p:cNvPicPr>
          <p:nvPr/>
        </p:nvPicPr>
        <p:blipFill>
          <a:blip r:embed="rId3"/>
          <a:stretch>
            <a:fillRect/>
          </a:stretch>
        </p:blipFill>
        <p:spPr>
          <a:xfrm>
            <a:off x="9067648" y="3784473"/>
            <a:ext cx="1920240" cy="1600200"/>
          </a:xfrm>
          <a:prstGeom prst="rect">
            <a:avLst/>
          </a:prstGeom>
        </p:spPr>
      </p:pic>
      <p:sp>
        <p:nvSpPr>
          <p:cNvPr id="13" name="Text 10"/>
          <p:cNvSpPr txBox="1"/>
          <p:nvPr/>
        </p:nvSpPr>
        <p:spPr>
          <a:xfrm>
            <a:off x="8412480" y="5494401"/>
            <a:ext cx="3230575" cy="548640"/>
          </a:xfrm>
          <a:prstGeom prst="rect">
            <a:avLst/>
          </a:prstGeom>
          <a:noFill/>
          <a:ln/>
        </p:spPr>
        <p:txBody>
          <a:bodyPr wrap="square" lIns="0" tIns="0" rIns="0" bIns="0" rtlCol="0" anchor="t"/>
          <a:lstStyle/>
          <a:p>
            <a:pPr marL="0" indent="0" algn="ctr">
              <a:buNone/>
            </a:pPr>
            <a:r>
              <a:rPr lang="en-US" sz="1400" b="1" dirty="0">
                <a:solidFill>
                  <a:schemeClr val="tx1"/>
                </a:solidFill>
                <a:latin typeface="Calibri" pitchFamily="34" charset="0"/>
                <a:ea typeface="Calibri" pitchFamily="34" charset="-122"/>
                <a:cs typeface="Calibri" pitchFamily="34" charset="-120"/>
              </a:rPr>
              <a:t>Mochi, brownie, even Oreos fit.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6035040" cy="1737360"/>
          </a:xfrm>
          <a:prstGeom prst="rect">
            <a:avLst/>
          </a:prstGeom>
          <a:noFill/>
          <a:ln/>
        </p:spPr>
        <p:txBody>
          <a:bodyPr wrap="square" lIns="0" tIns="0" rIns="0" bIns="0" rtlCol="0" anchor="b"/>
          <a:lstStyle/>
          <a:p>
            <a:pPr marL="0" indent="0" algn="l">
              <a:buNone/>
            </a:pPr>
            <a:r>
              <a:rPr lang="en-US" sz="5400" b="1" dirty="0">
                <a:solidFill>
                  <a:schemeClr val="tx1"/>
                </a:solidFill>
                <a:latin typeface="Arial" pitchFamily="34" charset="0"/>
                <a:ea typeface="Arial" pitchFamily="34" charset="-122"/>
                <a:cs typeface="Arial" pitchFamily="34" charset="-120"/>
              </a:rPr>
              <a:t>Thank you!</a:t>
            </a:r>
            <a:endParaRPr lang="en-US" sz="5400" dirty="0"/>
          </a:p>
        </p:txBody>
      </p:sp>
      <p:sp>
        <p:nvSpPr>
          <p:cNvPr id="3" name="Text 0"/>
          <p:cNvSpPr>
            <a:spLocks noGrp="1"/>
          </p:cNvSpPr>
          <p:nvPr>
            <p:ph type="body" idx="101" hasCustomPrompt="1"/>
          </p:nvPr>
        </p:nvSpPr>
        <p:spPr>
          <a:xfrm>
            <a:off x="548640" y="3749040"/>
            <a:ext cx="5852160" cy="1737360"/>
          </a:xfrm>
          <a:prstGeom prst="rect">
            <a:avLst/>
          </a:prstGeom>
          <a:noFill/>
          <a:ln/>
        </p:spPr>
        <p:txBody>
          <a:bodyPr wrap="square" lIns="0" tIns="0" rIns="0" bIns="0" rtlCol="0" anchor="t"/>
          <a:lstStyle/>
          <a:p>
            <a:pPr marL="0" indent="0" algn="l">
              <a:buNone/>
            </a:pPr>
            <a:r>
              <a:rPr lang="en-US" sz="2600" b="1" dirty="0">
                <a:solidFill>
                  <a:schemeClr val="tx1"/>
                </a:solidFill>
                <a:latin typeface="Calibri" pitchFamily="34" charset="0"/>
                <a:ea typeface="Calibri" pitchFamily="34" charset="-122"/>
                <a:cs typeface="Calibri" pitchFamily="34" charset="-120"/>
              </a:rPr>
              <a:t>Questions?</a:t>
            </a:r>
            <a:endParaRPr lang="en-US" sz="2000" dirty="0"/>
          </a:p>
          <a:p>
            <a:pPr marL="0" indent="0" algn="l">
              <a:buNone/>
            </a:pPr>
            <a:r>
              <a:rPr lang="en-US" sz="1200" dirty="0">
                <a:solidFill>
                  <a:schemeClr val="tx1"/>
                </a:solidFill>
                <a:latin typeface="Calibri" pitchFamily="34" charset="0"/>
                <a:ea typeface="Calibri" pitchFamily="34" charset="-122"/>
                <a:cs typeface="Calibri" pitchFamily="34" charset="-120"/>
              </a:rPr>
              <a:t> </a:t>
            </a:r>
            <a:endParaRPr lang="en-US" sz="2000" dirty="0"/>
          </a:p>
          <a:p>
            <a:pPr marL="0" indent="0" algn="l">
              <a:buNone/>
            </a:pPr>
            <a:r>
              <a:rPr lang="en-US" sz="1700" dirty="0">
                <a:solidFill>
                  <a:schemeClr val="accent5"/>
                </a:solidFill>
              </a:rPr>
              <a:t>Fabiha Anbar</a:t>
            </a:r>
            <a:endParaRPr lang="en-US" sz="2000" dirty="0"/>
          </a:p>
        </p:txBody>
      </p:sp>
      <p:sp>
        <p:nvSpPr>
          <p:cNvPr id="4" name="Scoop"/>
          <p:cNvSpPr/>
          <p:nvPr/>
        </p:nvSpPr>
        <p:spPr>
          <a:xfrm>
            <a:off x="7223760" y="502920"/>
            <a:ext cx="4023360" cy="4023360"/>
          </a:xfrm>
          <a:prstGeom prst="ellipse">
            <a:avLst/>
          </a:prstGeom>
          <a:solidFill>
            <a:srgbClr val="4E97DE"/>
          </a:solidFill>
          <a:ln/>
        </p:spPr>
        <p:txBody>
          <a:bodyPr/>
          <a:lstStyle/>
          <a:p>
            <a:endParaRPr lang="en-US"/>
          </a:p>
        </p:txBody>
      </p:sp>
      <p:sp>
        <p:nvSpPr>
          <p:cNvPr id="5" name="Scoop"/>
          <p:cNvSpPr/>
          <p:nvPr/>
        </p:nvSpPr>
        <p:spPr>
          <a:xfrm>
            <a:off x="10744200" y="320040"/>
            <a:ext cx="914400" cy="914400"/>
          </a:xfrm>
          <a:prstGeom prst="ellipse">
            <a:avLst/>
          </a:prstGeom>
          <a:solidFill>
            <a:srgbClr val="F2A7BB"/>
          </a:solidFill>
          <a:ln/>
        </p:spPr>
        <p:txBody>
          <a:bodyPr/>
          <a:lstStyle/>
          <a:p>
            <a:endParaRPr lang="en-US"/>
          </a:p>
        </p:txBody>
      </p:sp>
      <p:sp>
        <p:nvSpPr>
          <p:cNvPr id="6" name="Scoop"/>
          <p:cNvSpPr/>
          <p:nvPr/>
        </p:nvSpPr>
        <p:spPr>
          <a:xfrm>
            <a:off x="11155680" y="5120640"/>
            <a:ext cx="685800" cy="685800"/>
          </a:xfrm>
          <a:prstGeom prst="ellipse">
            <a:avLst/>
          </a:prstGeom>
          <a:solidFill>
            <a:srgbClr val="F5D04C"/>
          </a:solidFill>
          <a:ln/>
        </p:spPr>
        <p:txBody>
          <a:bodyPr/>
          <a:lstStyle/>
          <a:p>
            <a:endParaRPr lang="en-US"/>
          </a:p>
        </p:txBody>
      </p:sp>
      <p:sp>
        <p:nvSpPr>
          <p:cNvPr id="7" name="Scoop"/>
          <p:cNvSpPr/>
          <p:nvPr/>
        </p:nvSpPr>
        <p:spPr>
          <a:xfrm>
            <a:off x="6812280" y="5440680"/>
            <a:ext cx="548640" cy="548640"/>
          </a:xfrm>
          <a:prstGeom prst="ellipse">
            <a:avLst/>
          </a:prstGeom>
          <a:solidFill>
            <a:srgbClr val="A8C97F"/>
          </a:solidFill>
          <a:ln/>
        </p:spPr>
        <p:txBody>
          <a:bodyPr/>
          <a:lstStyle/>
          <a:p>
            <a:endParaRPr lang="en-US"/>
          </a:p>
        </p:txBody>
      </p:sp>
      <p:pic>
        <p:nvPicPr>
          <p:cNvPr id="8" name="Image 0" descr="Yo-Chi mascot plush"/>
          <p:cNvPicPr>
            <a:picLocks noChangeAspect="1"/>
          </p:cNvPicPr>
          <p:nvPr/>
        </p:nvPicPr>
        <p:blipFill>
          <a:blip r:embed="rId3"/>
          <a:stretch>
            <a:fillRect/>
          </a:stretch>
        </p:blipFill>
        <p:spPr>
          <a:xfrm>
            <a:off x="7818120" y="868680"/>
            <a:ext cx="2926080" cy="2926080"/>
          </a:xfrm>
          <a:prstGeom prst="rect">
            <a:avLst/>
          </a:prstGeom>
        </p:spPr>
      </p:pic>
      <p:pic>
        <p:nvPicPr>
          <p:cNvPr id="9" name="Image 1" descr="Two Yo-Chi bowls"/>
          <p:cNvPicPr>
            <a:picLocks noChangeAspect="1"/>
          </p:cNvPicPr>
          <p:nvPr/>
        </p:nvPicPr>
        <p:blipFill>
          <a:blip r:embed="rId4"/>
          <a:stretch>
            <a:fillRect/>
          </a:stretch>
        </p:blipFill>
        <p:spPr>
          <a:xfrm>
            <a:off x="7543800" y="3931920"/>
            <a:ext cx="4023360" cy="1951630"/>
          </a:xfrm>
          <a:prstGeom prst="rect">
            <a:avLst/>
          </a:prstGeom>
        </p:spPr>
      </p:pic>
      <p:sp>
        <p:nvSpPr>
          <p:cNvPr id="10" name="Text 6"/>
          <p:cNvSpPr txBox="1"/>
          <p:nvPr/>
        </p:nvSpPr>
        <p:spPr>
          <a:xfrm>
            <a:off x="411480" y="6263640"/>
            <a:ext cx="6400800" cy="274320"/>
          </a:xfrm>
          <a:prstGeom prst="rect">
            <a:avLst/>
          </a:prstGeom>
          <a:noFill/>
          <a:ln/>
        </p:spPr>
        <p:txBody>
          <a:bodyPr wrap="square" lIns="0" tIns="0" rIns="0" bIns="0" rtlCol="0" anchor="ctr"/>
          <a:lstStyle/>
          <a:p>
            <a:pPr marL="0" indent="0">
              <a:buNone/>
            </a:pPr>
            <a:r>
              <a:rPr lang="en-US" sz="1000" i="1" dirty="0">
                <a:solidFill>
                  <a:schemeClr val="accent5"/>
                </a:solidFill>
                <a:latin typeface="Calibri" pitchFamily="34" charset="0"/>
                <a:ea typeface="Calibri" pitchFamily="34" charset="-122"/>
                <a:cs typeface="Calibri" pitchFamily="34" charset="-120"/>
              </a:rPr>
              <a:t>Photos: Yo-Chi and @yeetengng7 (Lemon8), Data: yochi.com.au</a:t>
            </a:r>
            <a:endParaRPr lang="en-US" sz="1000" dirty="0"/>
          </a:p>
        </p:txBody>
      </p:sp>
    </p:spTree>
  </p:cSld>
  <p:clrMapOvr>
    <a:masterClrMapping/>
  </p:clrMapOvr>
</p:sld>
</file>

<file path=ppt/theme/theme1.xml><?xml version="1.0" encoding="utf-8"?>
<a:theme xmlns:a="http://schemas.openxmlformats.org/drawingml/2006/main" name="Yo-Chi Bowl Planner Pastel">
  <a:themeElements>
    <a:clrScheme name="Yo-Chi Bowl Planner Pastel">
      <a:dk1>
        <a:srgbClr val="141414"/>
      </a:dk1>
      <a:lt1>
        <a:srgbClr val="FFFFFF"/>
      </a:lt1>
      <a:dk2>
        <a:srgbClr val="2B2B2B"/>
      </a:dk2>
      <a:lt2>
        <a:srgbClr val="F4F4F4"/>
      </a:lt2>
      <a:accent1>
        <a:srgbClr val="F2A7BB"/>
      </a:accent1>
      <a:accent2>
        <a:srgbClr val="F5D04C"/>
      </a:accent2>
      <a:accent3>
        <a:srgbClr val="4E97DE"/>
      </a:accent3>
      <a:accent4>
        <a:srgbClr val="A8C97F"/>
      </a:accent4>
      <a:accent5>
        <a:srgbClr val="6B6B6B"/>
      </a:accent5>
      <a:accent6>
        <a:srgbClr val="E3E3E3"/>
      </a:accent6>
      <a:hlink>
        <a:srgbClr val="4E97DE"/>
      </a:hlink>
      <a:folHlink>
        <a:srgbClr val="6B6B6B"/>
      </a:folHlink>
    </a:clrScheme>
    <a:fontScheme name="Yo-Chi Bowl Planner Past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3236</Words>
  <Application>Microsoft Macintosh PowerPoint</Application>
  <PresentationFormat>Widescreen</PresentationFormat>
  <Paragraphs>432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Courier New</vt:lpstr>
      <vt:lpstr>Yo-Chi Bowl Planner Pastel</vt:lpstr>
      <vt:lpstr>Yo-Chi Bowl Planner</vt:lpstr>
      <vt:lpstr>Why a Yo-Chi bowl needs a database</vt:lpstr>
      <vt:lpstr>Entity Relationship Diagram</vt:lpstr>
      <vt:lpstr>One-to-many: a customer saves bowls</vt:lpstr>
      <vt:lpstr>Many-to-many: bowls and flavours</vt:lpstr>
      <vt:lpstr>Query 1: Lightest flavours</vt:lpstr>
      <vt:lpstr>Query 2: What each topping adds</vt:lpstr>
      <vt:lpstr>Query 3: Same query, cross product</vt:lpstr>
      <vt:lpstr>Query 4: Heavy topping categories</vt:lpstr>
      <vt:lpstr>Query 5: Sugariest toppings</vt:lpstr>
      <vt:lpstr>Query 6: Healthier swaps</vt:lpstr>
      <vt:lpstr>CHECK constraints keep the data real</vt:lpstr>
      <vt:lpstr>ON DELETE: protect or clean up</vt:lpstr>
      <vt:lpstr>The view: Bowl_Summary</vt:lpstr>
      <vt:lpstr>The view in use</vt:lpstr>
      <vt:lpstr>Chocolate bowl under $20?</vt:lpstr>
      <vt:lpstr>Under 200 calories?</vt:lpstr>
      <vt:lpstr>Treat bowls: 200-300 kcal, under $12</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Yo-Chi Bowl Planner</dc:title>
  <dc:subject>31061/32606 Database Principles - 5 Assignment</dc:subject>
  <dc:creator>Fabiha Anbar</dc:creator>
  <cp:lastModifiedBy>Fabiha Anbar</cp:lastModifiedBy>
  <cp:revision>5</cp:revision>
  <cp:lastPrinted>2026-10-11T11:23:15Z</cp:lastPrinted>
  <dcterms:created xsi:type="dcterms:W3CDTF">2026-10-11T08:07:30Z</dcterms:created>
  <dcterms:modified xsi:type="dcterms:W3CDTF">2026-10-16T03:46:01Z</dcterms:modified>
</cp:coreProperties>
</file>